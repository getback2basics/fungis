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26" roundtripDataSignature="AMtx7migb1JKAq6ERXkY0IjmNUI0gyYhX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2ED39FC-80F1-4CA4-A6D1-AB31B4BDA9F8}">
  <a:tblStyle styleId="{32ED39FC-80F1-4CA4-A6D1-AB31B4BDA9F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customschemas.google.com/relationships/presentationmetadata" Target="metadata"/><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3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3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SzPts val="1400"/>
              <a:buNone/>
              <a:defRPr b="0" i="0" sz="13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SzPts val="1400"/>
              <a:buNone/>
              <a:defRPr b="0" i="0" sz="13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SzPts val="1400"/>
              <a:buNone/>
              <a:defRPr b="0" i="0" sz="13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SzPts val="1400"/>
              <a:buNone/>
              <a:defRPr b="0" i="0" sz="13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SzPts val="1400"/>
              <a:buNone/>
              <a:defRPr b="0" i="0" sz="13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SzPts val="1400"/>
              <a:buNone/>
              <a:defRPr b="0" i="0" sz="13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SzPts val="1400"/>
              <a:buNone/>
              <a:defRPr b="0" i="0" sz="1300" u="none" cap="none" strike="noStrike">
                <a:solidFill>
                  <a:srgbClr val="000000"/>
                </a:solidFill>
                <a:latin typeface="Calibri"/>
                <a:ea typeface="Calibri"/>
                <a:cs typeface="Calibri"/>
                <a:sym typeface="Calibri"/>
              </a:defRPr>
            </a:lvl9pPr>
          </a:lstStyle>
          <a:p/>
        </p:txBody>
      </p:sp>
      <p:sp>
        <p:nvSpPr>
          <p:cNvPr id="4" name="Google Shape;4;n"/>
          <p:cNvSpPr txBox="1"/>
          <p:nvPr>
            <p:ph idx="10" type="dt"/>
          </p:nvPr>
        </p:nvSpPr>
        <p:spPr>
          <a:xfrm>
            <a:off x="3884612" y="0"/>
            <a:ext cx="2971800" cy="458787"/>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3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SzPts val="1400"/>
              <a:buNone/>
              <a:defRPr b="0" i="0" sz="13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SzPts val="1400"/>
              <a:buNone/>
              <a:defRPr b="0" i="0" sz="13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SzPts val="1400"/>
              <a:buNone/>
              <a:defRPr b="0" i="0" sz="13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SzPts val="1400"/>
              <a:buNone/>
              <a:defRPr b="0" i="0" sz="13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SzPts val="1400"/>
              <a:buNone/>
              <a:defRPr b="0" i="0" sz="13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SzPts val="1400"/>
              <a:buNone/>
              <a:defRPr b="0" i="0" sz="13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SzPts val="1400"/>
              <a:buNone/>
              <a:defRPr b="0" i="0" sz="1300" u="none" cap="none" strike="noStrike">
                <a:solidFill>
                  <a:srgbClr val="000000"/>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3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3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SzPts val="1400"/>
              <a:buNone/>
              <a:defRPr b="0" i="0" sz="13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SzPts val="1400"/>
              <a:buNone/>
              <a:defRPr b="0" i="0" sz="13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SzPts val="1400"/>
              <a:buNone/>
              <a:defRPr b="0" i="0" sz="13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SzPts val="1400"/>
              <a:buNone/>
              <a:defRPr b="0" i="0" sz="13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SzPts val="1400"/>
              <a:buNone/>
              <a:defRPr b="0" i="0" sz="13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SzPts val="1400"/>
              <a:buNone/>
              <a:defRPr b="0" i="0" sz="13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SzPts val="1400"/>
              <a:buNone/>
              <a:defRPr b="0" i="0" sz="1300" u="none" cap="none" strike="noStrike">
                <a:solidFill>
                  <a:srgbClr val="000000"/>
                </a:solidFill>
                <a:latin typeface="Calibri"/>
                <a:ea typeface="Calibri"/>
                <a:cs typeface="Calibri"/>
                <a:sym typeface="Calibri"/>
              </a:defRPr>
            </a:lvl9pPr>
          </a:lstStyle>
          <a:p/>
        </p:txBody>
      </p:sp>
      <p:sp>
        <p:nvSpPr>
          <p:cNvPr id="8" name="Google Shape;8;n"/>
          <p:cNvSpPr txBox="1"/>
          <p:nvPr>
            <p:ph idx="12" type="sldNum"/>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Morning, thanks for joining us today.</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I’m George and I’ve been involved with FunGIS for almost the last 10 years and it’s great to bring FOSS4G up here. </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About 4 years ago we organised a QGIS workshop – ‘GIS in the Open’ and since then we’ve continued to have a lot of open source content. </a:t>
            </a:r>
            <a:endParaRPr/>
          </a:p>
        </p:txBody>
      </p:sp>
      <p:sp>
        <p:nvSpPr>
          <p:cNvPr id="87" name="Google Shape;87;p1: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5" name="Google Shape;9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Over the last few years I’ve been involved with the Startup world and helped build the scene in the Tablelands and presented at many events in Cairns and Brisbane.</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Through that (and now working in a start-up) I have been exposed to the importance of a focus on clients. It’s not my wheelhouse, I don’t naturally think about the end users but it’s essential and a key battle we face. It directly impacts the value of our work.</a:t>
            </a:r>
            <a:endParaRPr/>
          </a:p>
        </p:txBody>
      </p:sp>
      <p:sp>
        <p:nvSpPr>
          <p:cNvPr id="96" name="Google Shape;96;p2: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2" name="Google Shape;10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Think about this image!</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In this virus age, sometimes using desktop GIS for non-GISsers is like dissecting a genomic sequence for us. As simple as GIS may seem to us, it’s complex, scary and daunting to many.</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These are the questions we must ask ourselves on their behalf</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t/>
            </a:r>
            <a:endParaRPr/>
          </a:p>
          <a:p>
            <a:pPr indent="0" lvl="0" marL="0" rtl="0" algn="l">
              <a:spcBef>
                <a:spcPts val="0"/>
              </a:spcBef>
              <a:spcAft>
                <a:spcPts val="0"/>
              </a:spcAft>
              <a:buNone/>
            </a:pPr>
            <a:r>
              <a:rPr lang="en-US"/>
              <a:t>is a standard GIS desktop environment </a:t>
            </a:r>
            <a:r>
              <a:rPr b="1" lang="en-US" sz="1100"/>
              <a:t>too complicated?</a:t>
            </a:r>
            <a:endParaRPr/>
          </a:p>
          <a:p>
            <a:pPr indent="0" lvl="0" marL="0" rtl="0" algn="l">
              <a:spcBef>
                <a:spcPts val="0"/>
              </a:spcBef>
              <a:spcAft>
                <a:spcPts val="0"/>
              </a:spcAft>
              <a:buNone/>
            </a:pPr>
            <a:r>
              <a:t/>
            </a:r>
            <a:endParaRPr b="1" sz="1000"/>
          </a:p>
          <a:p>
            <a:pPr indent="0" lvl="0" marL="0" rtl="0" algn="l">
              <a:spcBef>
                <a:spcPts val="0"/>
              </a:spcBef>
              <a:spcAft>
                <a:spcPts val="0"/>
              </a:spcAft>
              <a:buNone/>
            </a:pPr>
            <a:r>
              <a:t/>
            </a:r>
            <a:endParaRPr sz="1000"/>
          </a:p>
          <a:p>
            <a:pPr indent="0" lvl="0" marL="0" rtl="0" algn="l">
              <a:spcBef>
                <a:spcPts val="0"/>
              </a:spcBef>
              <a:spcAft>
                <a:spcPts val="0"/>
              </a:spcAft>
              <a:buNone/>
            </a:pPr>
            <a:r>
              <a:rPr lang="en-US"/>
              <a:t>are there many </a:t>
            </a:r>
            <a:r>
              <a:rPr b="1" lang="en-US" sz="1100"/>
              <a:t>common tasks </a:t>
            </a:r>
            <a:r>
              <a:rPr lang="en-US"/>
              <a:t>that can be simplified?</a:t>
            </a:r>
            <a:endParaRPr/>
          </a:p>
          <a:p>
            <a:pPr indent="0" lvl="0" marL="0" rtl="0" algn="l">
              <a:spcBef>
                <a:spcPts val="0"/>
              </a:spcBef>
              <a:spcAft>
                <a:spcPts val="0"/>
              </a:spcAft>
              <a:buSzPts val="1000"/>
              <a:buNone/>
            </a:pPr>
            <a:br>
              <a:rPr lang="en-US" sz="1000"/>
            </a:br>
            <a:endParaRPr/>
          </a:p>
          <a:p>
            <a:pPr indent="0" lvl="0" marL="0" rtl="0" algn="l">
              <a:spcBef>
                <a:spcPts val="0"/>
              </a:spcBef>
              <a:spcAft>
                <a:spcPts val="0"/>
              </a:spcAft>
              <a:buNone/>
            </a:pPr>
            <a:r>
              <a:rPr lang="en-US"/>
              <a:t>can they </a:t>
            </a:r>
            <a:r>
              <a:rPr b="1" lang="en-US" sz="1100"/>
              <a:t>use SQL </a:t>
            </a:r>
            <a:r>
              <a:rPr lang="en-US"/>
              <a:t>queries without knowing SQL?</a:t>
            </a:r>
            <a:endParaRPr/>
          </a:p>
          <a:p>
            <a:pPr indent="0" lvl="0" marL="0" rtl="0" algn="l">
              <a:spcBef>
                <a:spcPts val="0"/>
              </a:spcBef>
              <a:spcAft>
                <a:spcPts val="0"/>
              </a:spcAft>
              <a:buSzPts val="1800"/>
              <a:buNone/>
            </a:pPr>
            <a:r>
              <a:rPr lang="en-US"/>
              <a:t>.</a:t>
            </a:r>
            <a:endParaRPr/>
          </a:p>
        </p:txBody>
      </p:sp>
      <p:sp>
        <p:nvSpPr>
          <p:cNvPr id="103" name="Google Shape;103;p3: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13" name="Google Shape;11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As important as the users are, we also need to consider the Administrators of our systems…for them we need to ask the following questions.</a:t>
            </a:r>
            <a:endParaRPr/>
          </a:p>
          <a:p>
            <a:pPr indent="0" lvl="0" marL="0" rtl="0" algn="l">
              <a:spcBef>
                <a:spcPts val="0"/>
              </a:spcBef>
              <a:spcAft>
                <a:spcPts val="0"/>
              </a:spcAft>
              <a:buSzPts val="1800"/>
              <a:buNone/>
            </a:pPr>
            <a:r>
              <a:t/>
            </a:r>
            <a:endParaRPr/>
          </a:p>
          <a:p>
            <a:pPr indent="0" lvl="0" marL="0" rtl="0" algn="l">
              <a:spcBef>
                <a:spcPts val="0"/>
              </a:spcBef>
              <a:spcAft>
                <a:spcPts val="0"/>
              </a:spcAft>
              <a:buNone/>
            </a:pPr>
            <a:r>
              <a:rPr lang="en-US"/>
              <a:t>is changing the user environment a complex task that requires </a:t>
            </a:r>
            <a:r>
              <a:rPr b="1" lang="en-US" sz="1100"/>
              <a:t>significant code </a:t>
            </a:r>
            <a:r>
              <a:rPr lang="en-US"/>
              <a:t>level changes?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can it be changed using a </a:t>
            </a:r>
            <a:r>
              <a:rPr b="1" lang="en-US" sz="1100"/>
              <a:t>content management system </a:t>
            </a:r>
            <a:r>
              <a:rPr lang="en-US"/>
              <a:t>similar to a website?</a:t>
            </a:r>
            <a:endParaRPr/>
          </a:p>
          <a:p>
            <a:pPr indent="0" lvl="0" marL="0" rtl="0" algn="l">
              <a:spcBef>
                <a:spcPts val="0"/>
              </a:spcBef>
              <a:spcAft>
                <a:spcPts val="0"/>
              </a:spcAft>
              <a:buSzPts val="1800"/>
              <a:buNone/>
            </a:pPr>
            <a:br>
              <a:rPr lang="en-US"/>
            </a:br>
            <a:endParaRPr/>
          </a:p>
          <a:p>
            <a:pPr indent="0" lvl="0" marL="0" rtl="0" algn="l">
              <a:spcBef>
                <a:spcPts val="0"/>
              </a:spcBef>
              <a:spcAft>
                <a:spcPts val="0"/>
              </a:spcAft>
              <a:buNone/>
            </a:pPr>
            <a:r>
              <a:rPr lang="en-US"/>
              <a:t>can it be used on </a:t>
            </a:r>
            <a:r>
              <a:rPr b="1" lang="en-US" sz="1100"/>
              <a:t>mobile devices, off-line and online </a:t>
            </a:r>
            <a:r>
              <a:rPr lang="en-US"/>
              <a:t>with minimal rework?</a:t>
            </a:r>
            <a:endParaRPr/>
          </a:p>
          <a:p>
            <a:pPr indent="0" lvl="0" marL="0" rtl="0" algn="l">
              <a:spcBef>
                <a:spcPts val="0"/>
              </a:spcBef>
              <a:spcAft>
                <a:spcPts val="0"/>
              </a:spcAft>
              <a:buSzPts val="1800"/>
              <a:buNone/>
            </a:pPr>
            <a:br>
              <a:rPr lang="en-US"/>
            </a:br>
            <a:endParaRPr/>
          </a:p>
          <a:p>
            <a:pPr indent="0" lvl="0" marL="0" rtl="0" algn="l">
              <a:spcBef>
                <a:spcPts val="0"/>
              </a:spcBef>
              <a:spcAft>
                <a:spcPts val="0"/>
              </a:spcAft>
              <a:buNone/>
            </a:pPr>
            <a:r>
              <a:rPr lang="en-US"/>
              <a:t>Is there a single system that </a:t>
            </a:r>
            <a:r>
              <a:rPr b="1" lang="en-US" sz="1100"/>
              <a:t>non-technical and technical </a:t>
            </a:r>
            <a:r>
              <a:rPr lang="en-US"/>
              <a:t>GIS users can use?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SzPts val="1600"/>
              <a:buNone/>
            </a:pPr>
            <a:r>
              <a:rPr lang="en-US" sz="1600"/>
              <a:t>These are the questions I hope I can answer in the next half hour.</a:t>
            </a:r>
            <a:endParaRPr/>
          </a:p>
          <a:p>
            <a:pPr indent="0" lvl="0" marL="0" rtl="0" algn="l">
              <a:spcBef>
                <a:spcPts val="0"/>
              </a:spcBef>
              <a:spcAft>
                <a:spcPts val="0"/>
              </a:spcAft>
              <a:buNone/>
            </a:pPr>
            <a:r>
              <a:t/>
            </a:r>
            <a:endParaRPr sz="1600"/>
          </a:p>
        </p:txBody>
      </p:sp>
      <p:sp>
        <p:nvSpPr>
          <p:cNvPr id="114" name="Google Shape;114;p4: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23" name="Google Shape;12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When we look at QGIS or any other commercial GIS system through the eyes of people who don’t have our background –it actually seems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Quite </a:t>
            </a:r>
            <a:r>
              <a:rPr b="1" lang="en-US" sz="1100"/>
              <a:t>complex and daunting </a:t>
            </a:r>
            <a:r>
              <a:rPr lang="en-US"/>
              <a:t>to non-technical users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sz="1100"/>
              <a:t>Many options </a:t>
            </a:r>
            <a:r>
              <a:rPr lang="en-US"/>
              <a:t>that need to be configured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Takes </a:t>
            </a:r>
            <a:r>
              <a:rPr b="1" lang="en-US" sz="1100"/>
              <a:t>many steps </a:t>
            </a:r>
            <a:r>
              <a:rPr lang="en-US"/>
              <a:t>to add new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Very functional and adaptive for technical users.</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DEMO</a:t>
            </a:r>
            <a:endParaRPr/>
          </a:p>
          <a:p>
            <a:pPr indent="-114300" lvl="0" marL="0" rtl="0" algn="l">
              <a:spcBef>
                <a:spcPts val="0"/>
              </a:spcBef>
              <a:spcAft>
                <a:spcPts val="0"/>
              </a:spcAft>
              <a:buSzPts val="1800"/>
              <a:buAutoNum type="arabicPeriod"/>
            </a:pPr>
            <a:r>
              <a:rPr lang="en-US"/>
              <a:t>Open QGIS in default state</a:t>
            </a:r>
            <a:endParaRPr/>
          </a:p>
          <a:p>
            <a:pPr indent="-114300" lvl="0" marL="0" rtl="0" algn="l">
              <a:spcBef>
                <a:spcPts val="0"/>
              </a:spcBef>
              <a:spcAft>
                <a:spcPts val="0"/>
              </a:spcAft>
              <a:buSzPts val="1800"/>
              <a:buAutoNum type="arabicPeriod"/>
            </a:pPr>
            <a:r>
              <a:rPr lang="en-US"/>
              <a:t>Add a raster/vector dataset</a:t>
            </a:r>
            <a:endParaRPr/>
          </a:p>
          <a:p>
            <a:pPr indent="-114300" lvl="0" marL="0" rtl="0" algn="l">
              <a:spcBef>
                <a:spcPts val="0"/>
              </a:spcBef>
              <a:spcAft>
                <a:spcPts val="0"/>
              </a:spcAft>
              <a:buSzPts val="1800"/>
              <a:buAutoNum type="arabicPeriod"/>
            </a:pPr>
            <a:r>
              <a:rPr lang="en-US"/>
              <a:t>Show changing panels and settings</a:t>
            </a:r>
            <a:endParaRPr/>
          </a:p>
        </p:txBody>
      </p:sp>
      <p:sp>
        <p:nvSpPr>
          <p:cNvPr id="124" name="Google Shape;124;p5: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32" name="Google Shape;13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The concept behind the Mangoesmapping ‘Custom Menus’ plugin was to have a single spreadsheet like table that could be edited to update the menus, data that’s loaded and the associated symbology without having to access the code base.</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This reduces implementation and administration time quite significantly and democratises access to changing the interface to trusted team leaders who could easily create and update an interface for their teams.</a:t>
            </a:r>
            <a:endParaRPr/>
          </a:p>
          <a:p>
            <a:pPr indent="0" lvl="0" marL="0" rtl="0" algn="l">
              <a:spcBef>
                <a:spcPts val="0"/>
              </a:spcBef>
              <a:spcAft>
                <a:spcPts val="0"/>
              </a:spcAft>
              <a:buSzPts val="1800"/>
              <a:buNone/>
            </a:pPr>
            <a:r>
              <a:t/>
            </a:r>
            <a:endParaRPr b="1"/>
          </a:p>
          <a:p>
            <a:pPr indent="0" lvl="0" marL="0" rtl="0" algn="l">
              <a:spcBef>
                <a:spcPts val="0"/>
              </a:spcBef>
              <a:spcAft>
                <a:spcPts val="0"/>
              </a:spcAft>
              <a:buSzPts val="1800"/>
              <a:buNone/>
            </a:pPr>
            <a:r>
              <a:rPr b="1" lang="en-US"/>
              <a:t>DEMO</a:t>
            </a:r>
            <a:endParaRPr/>
          </a:p>
          <a:p>
            <a:pPr indent="-114300" lvl="0" marL="0" rtl="0" algn="l">
              <a:spcBef>
                <a:spcPts val="0"/>
              </a:spcBef>
              <a:spcAft>
                <a:spcPts val="0"/>
              </a:spcAft>
              <a:buSzPts val="1800"/>
              <a:buAutoNum type="arabicPeriod"/>
            </a:pPr>
            <a:r>
              <a:rPr lang="en-US"/>
              <a:t>Open QGIS using custom vbs</a:t>
            </a:r>
            <a:endParaRPr/>
          </a:p>
          <a:p>
            <a:pPr indent="-114300" lvl="0" marL="0" rtl="0" algn="l">
              <a:spcBef>
                <a:spcPts val="0"/>
              </a:spcBef>
              <a:spcAft>
                <a:spcPts val="0"/>
              </a:spcAft>
              <a:buSzPts val="1800"/>
              <a:buAutoNum type="arabicPeriod"/>
            </a:pPr>
            <a:r>
              <a:rPr lang="en-US"/>
              <a:t>We can add projects here so that Townplanning, Customer Service, Engineering divisions could see different interfaces tailored to there unique needs.</a:t>
            </a:r>
            <a:endParaRPr/>
          </a:p>
          <a:p>
            <a:pPr indent="-114300" lvl="0" marL="0" rtl="0" algn="l">
              <a:spcBef>
                <a:spcPts val="0"/>
              </a:spcBef>
              <a:spcAft>
                <a:spcPts val="0"/>
              </a:spcAft>
              <a:buSzPts val="1800"/>
              <a:buAutoNum type="arabicPeriod"/>
            </a:pPr>
            <a:r>
              <a:rPr lang="en-US"/>
              <a:t>Demonstrate standard opening map</a:t>
            </a:r>
            <a:endParaRPr/>
          </a:p>
          <a:p>
            <a:pPr indent="-114300" lvl="0" marL="0" rtl="0" algn="l">
              <a:spcBef>
                <a:spcPts val="0"/>
              </a:spcBef>
              <a:spcAft>
                <a:spcPts val="0"/>
              </a:spcAft>
              <a:buSzPts val="1800"/>
              <a:buAutoNum type="arabicPeriod"/>
            </a:pPr>
            <a:r>
              <a:rPr lang="en-US"/>
              <a:t>Show adding a layer</a:t>
            </a:r>
            <a:endParaRPr/>
          </a:p>
          <a:p>
            <a:pPr indent="-114300" lvl="0" marL="0" rtl="0" algn="l">
              <a:spcBef>
                <a:spcPts val="0"/>
              </a:spcBef>
              <a:spcAft>
                <a:spcPts val="0"/>
              </a:spcAft>
              <a:buSzPts val="1800"/>
              <a:buAutoNum type="arabicPeriod"/>
            </a:pPr>
            <a:r>
              <a:rPr lang="en-US"/>
              <a:t>Show closing a layer</a:t>
            </a:r>
            <a:endParaRPr/>
          </a:p>
          <a:p>
            <a:pPr indent="-114300" lvl="0" marL="0" rtl="0" algn="l">
              <a:spcBef>
                <a:spcPts val="0"/>
              </a:spcBef>
              <a:spcAft>
                <a:spcPts val="0"/>
              </a:spcAft>
              <a:buSzPts val="1800"/>
              <a:buAutoNum type="arabicPeriod"/>
            </a:pPr>
            <a:r>
              <a:rPr lang="en-US"/>
              <a:t>Show running a SQL search – search for ‘main’ in the road table</a:t>
            </a:r>
            <a:endParaRPr/>
          </a:p>
          <a:p>
            <a:pPr indent="-114300" lvl="0" marL="0" rtl="0" algn="l">
              <a:spcBef>
                <a:spcPts val="0"/>
              </a:spcBef>
              <a:spcAft>
                <a:spcPts val="0"/>
              </a:spcAft>
              <a:buSzPts val="1800"/>
              <a:buAutoNum type="arabicPeriod"/>
            </a:pPr>
            <a:r>
              <a:rPr lang="en-US"/>
              <a:t>Show running ‘f main’ and complexity of returned result</a:t>
            </a:r>
            <a:endParaRPr/>
          </a:p>
        </p:txBody>
      </p:sp>
      <p:sp>
        <p:nvSpPr>
          <p:cNvPr id="133" name="Google Shape;133;p6: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42" name="Google Shape;14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The MGM search plugin is based on the open source  ‘Search Layers’ plugin. Our clients needed to be able to search specific fields in GIS tables and SQL views to get results that only included some fields.</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This is relatively easy in SQL but very complex for non-technical users.</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Our plugin integrated these needs.</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b="1" lang="en-US"/>
              <a:t>DEMO</a:t>
            </a:r>
            <a:endParaRPr/>
          </a:p>
          <a:p>
            <a:pPr indent="-114300" lvl="0" marL="0" rtl="0" algn="l">
              <a:spcBef>
                <a:spcPts val="0"/>
              </a:spcBef>
              <a:spcAft>
                <a:spcPts val="0"/>
              </a:spcAft>
              <a:buSzPts val="1800"/>
              <a:buAutoNum type="arabicPeriod"/>
            </a:pPr>
            <a:r>
              <a:rPr lang="en-US"/>
              <a:t>lot by address to show simple result –use ‘main’</a:t>
            </a:r>
            <a:endParaRPr/>
          </a:p>
          <a:p>
            <a:pPr indent="-114300" lvl="0" marL="0" rtl="0" algn="l">
              <a:spcBef>
                <a:spcPts val="0"/>
              </a:spcBef>
              <a:spcAft>
                <a:spcPts val="0"/>
              </a:spcAft>
              <a:buSzPts val="1800"/>
              <a:buAutoNum type="arabicPeriod"/>
            </a:pPr>
            <a:r>
              <a:rPr lang="en-US"/>
              <a:t>whole dataset to show difference – use ‘main’</a:t>
            </a:r>
            <a:endParaRPr/>
          </a:p>
          <a:p>
            <a:pPr indent="-114300" lvl="0" marL="0" rtl="0" algn="l">
              <a:spcBef>
                <a:spcPts val="0"/>
              </a:spcBef>
              <a:spcAft>
                <a:spcPts val="0"/>
              </a:spcAft>
              <a:buSzPts val="1800"/>
              <a:buAutoNum type="arabicPeriod"/>
            </a:pPr>
            <a:r>
              <a:rPr lang="en-US"/>
              <a:t>Change settings and run search – use autocomplete and click on drop down</a:t>
            </a:r>
            <a:endParaRPr/>
          </a:p>
          <a:p>
            <a:pPr indent="-114300" lvl="0" marL="0" rtl="0" algn="l">
              <a:spcBef>
                <a:spcPts val="0"/>
              </a:spcBef>
              <a:spcAft>
                <a:spcPts val="0"/>
              </a:spcAft>
              <a:buSzPts val="1800"/>
              <a:buAutoNum type="arabicPeriod"/>
            </a:pPr>
            <a:r>
              <a:rPr lang="en-US"/>
              <a:t>Run full search (native plugin)</a:t>
            </a:r>
            <a:endParaRPr/>
          </a:p>
          <a:p>
            <a:pPr indent="-114300" lvl="0" marL="0" rtl="0" algn="l">
              <a:spcBef>
                <a:spcPts val="0"/>
              </a:spcBef>
              <a:spcAft>
                <a:spcPts val="0"/>
              </a:spcAft>
              <a:buSzPts val="1800"/>
              <a:buAutoNum type="arabicPeriod"/>
            </a:pPr>
            <a:r>
              <a:rPr lang="en-US"/>
              <a:t>Delete all layers and run query – this will show that data will be added if required.</a:t>
            </a:r>
            <a:endParaRPr/>
          </a:p>
        </p:txBody>
      </p:sp>
      <p:sp>
        <p:nvSpPr>
          <p:cNvPr id="143" name="Google Shape;143;p7: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51" name="Google Shape;15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DEMO</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Search for main in Roads dataset</a:t>
            </a:r>
            <a:endParaRPr/>
          </a:p>
        </p:txBody>
      </p:sp>
      <p:sp>
        <p:nvSpPr>
          <p:cNvPr id="152" name="Google Shape;152;p8: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60" name="Google Shape;16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We’ve looked at the user experience for both Non-Technical and Technical users. The other critical piece to a corporate solution though is the IT team and Administrators.</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So how easy is it for the administrator to change what people see and can do?</a:t>
            </a:r>
            <a:endParaRPr/>
          </a:p>
          <a:p>
            <a:pPr indent="0" lvl="0" marL="0" rtl="0" algn="l">
              <a:spcBef>
                <a:spcPts val="0"/>
              </a:spcBef>
              <a:spcAft>
                <a:spcPts val="0"/>
              </a:spcAft>
              <a:buSzPts val="1800"/>
              <a:buNone/>
            </a:pPr>
            <a:r>
              <a:t/>
            </a:r>
            <a:endParaRPr/>
          </a:p>
          <a:p>
            <a:pPr indent="0" lvl="0" marL="0" rtl="0" algn="l">
              <a:spcBef>
                <a:spcPts val="0"/>
              </a:spcBef>
              <a:spcAft>
                <a:spcPts val="0"/>
              </a:spcAft>
              <a:buNone/>
            </a:pPr>
            <a:r>
              <a:t/>
            </a:r>
            <a:endParaRPr/>
          </a:p>
        </p:txBody>
      </p:sp>
      <p:sp>
        <p:nvSpPr>
          <p:cNvPr id="161" name="Google Shape;161;p9: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69" name="Google Shape;16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While there are processes to change the UI/UX of QGIS that are built in, they can be difficult to implement at a corporate level. </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DEMO</a:t>
            </a:r>
            <a:endParaRPr/>
          </a:p>
          <a:p>
            <a:pPr indent="0" lvl="0" marL="0" rtl="0" algn="l">
              <a:spcBef>
                <a:spcPts val="0"/>
              </a:spcBef>
              <a:spcAft>
                <a:spcPts val="0"/>
              </a:spcAft>
              <a:buSzPts val="1800"/>
              <a:buNone/>
            </a:pPr>
            <a:r>
              <a:t/>
            </a:r>
            <a:endParaRPr/>
          </a:p>
          <a:p>
            <a:pPr indent="0" lvl="0" marL="0" rtl="0" algn="l">
              <a:spcBef>
                <a:spcPts val="0"/>
              </a:spcBef>
              <a:spcAft>
                <a:spcPts val="0"/>
              </a:spcAft>
              <a:buNone/>
            </a:pPr>
            <a:r>
              <a:rPr lang="en-US"/>
              <a:t>Open the Interface customization and show the level of control available</a:t>
            </a:r>
            <a:endParaRPr/>
          </a:p>
          <a:p>
            <a:pPr indent="0" lvl="0" marL="0" rtl="0" algn="l">
              <a:spcBef>
                <a:spcPts val="0"/>
              </a:spcBef>
              <a:spcAft>
                <a:spcPts val="0"/>
              </a:spcAft>
              <a:buNone/>
            </a:pPr>
            <a:r>
              <a:rPr lang="en-US"/>
              <a:t>Show it saves in the user profile ‘\Roaming\QGIS\QGIS3\profiles\default\QGIS’</a:t>
            </a:r>
            <a:endParaRPr/>
          </a:p>
          <a:p>
            <a:pPr indent="0" lvl="0" marL="0" rtl="0" algn="l">
              <a:spcBef>
                <a:spcPts val="0"/>
              </a:spcBef>
              <a:spcAft>
                <a:spcPts val="0"/>
              </a:spcAft>
              <a:buNone/>
            </a:pPr>
            <a:r>
              <a:rPr lang="en-US"/>
              <a:t>Show behind the scenes in dealing with the different profiles</a:t>
            </a:r>
            <a:endParaRPr/>
          </a:p>
        </p:txBody>
      </p:sp>
      <p:sp>
        <p:nvSpPr>
          <p:cNvPr id="170" name="Google Shape;170;p10: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79" name="Google Shape;17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We as GIS professionals (trained operators) want to be able to add tools, create workflows and customize the system to our individual needs.</a:t>
            </a:r>
            <a:endParaRPr/>
          </a:p>
          <a:p>
            <a:pPr indent="0" lvl="0" marL="0" rtl="0" algn="l">
              <a:spcBef>
                <a:spcPts val="0"/>
              </a:spcBef>
              <a:spcAft>
                <a:spcPts val="0"/>
              </a:spcAft>
              <a:buSzPts val="1800"/>
              <a:buNone/>
            </a:pPr>
            <a:r>
              <a:rPr lang="en-US"/>
              <a:t>We as IT Managers want to be able to restrict individual customization as much as possible to reduce security risks and make processing updates easier.</a:t>
            </a:r>
            <a:endParaRPr/>
          </a:p>
          <a:p>
            <a:pPr indent="0" lvl="0" marL="0" rtl="0" algn="l">
              <a:spcBef>
                <a:spcPts val="0"/>
              </a:spcBef>
              <a:spcAft>
                <a:spcPts val="0"/>
              </a:spcAft>
              <a:buSzPts val="1800"/>
              <a:buNone/>
            </a:pPr>
            <a:r>
              <a:rPr lang="en-US"/>
              <a:t>The process we have developed allows for a balance to be met.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Admins install plugins as usual </a:t>
            </a:r>
            <a:endParaRPr/>
          </a:p>
          <a:p>
            <a:pPr indent="0" lvl="0" marL="0" rtl="0" algn="l">
              <a:spcBef>
                <a:spcPts val="0"/>
              </a:spcBef>
              <a:spcAft>
                <a:spcPts val="0"/>
              </a:spcAft>
              <a:buNone/>
            </a:pPr>
            <a:r>
              <a:rPr lang="en-US"/>
              <a:t>Copy the plugin folder to a restricted folder</a:t>
            </a:r>
            <a:endParaRPr/>
          </a:p>
          <a:p>
            <a:pPr indent="0" lvl="0" marL="0" rtl="0" algn="l">
              <a:spcBef>
                <a:spcPts val="0"/>
              </a:spcBef>
              <a:spcAft>
                <a:spcPts val="0"/>
              </a:spcAft>
              <a:buNone/>
            </a:pPr>
            <a:r>
              <a:rPr lang="en-US"/>
              <a:t>add settings to 3 key files that control the behaviour for all users every time they open the custom interface.</a:t>
            </a:r>
            <a:endParaRPr/>
          </a:p>
          <a:p>
            <a:pPr indent="0" lvl="0" marL="0" rtl="0" algn="l">
              <a:spcBef>
                <a:spcPts val="0"/>
              </a:spcBef>
              <a:spcAft>
                <a:spcPts val="0"/>
              </a:spcAft>
              <a:buNone/>
            </a:pPr>
            <a:r>
              <a:t/>
            </a:r>
            <a:endParaRPr/>
          </a:p>
        </p:txBody>
      </p:sp>
      <p:sp>
        <p:nvSpPr>
          <p:cNvPr id="180" name="Google Shape;180;p11: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88" name="Google Shape;18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12: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00" name="Google Shape;20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DEMO</a:t>
            </a:r>
            <a:endParaRPr/>
          </a:p>
          <a:p>
            <a:pPr indent="0" lvl="0" marL="0" rtl="0" algn="l">
              <a:spcBef>
                <a:spcPts val="0"/>
              </a:spcBef>
              <a:spcAft>
                <a:spcPts val="0"/>
              </a:spcAft>
              <a:buSzPts val="1800"/>
              <a:buNone/>
            </a:pPr>
            <a:r>
              <a:t/>
            </a:r>
            <a:endParaRPr/>
          </a:p>
          <a:p>
            <a:pPr indent="0" lvl="0" marL="0" rtl="0" algn="l">
              <a:spcBef>
                <a:spcPts val="0"/>
              </a:spcBef>
              <a:spcAft>
                <a:spcPts val="0"/>
              </a:spcAft>
              <a:buNone/>
            </a:pPr>
            <a:r>
              <a:rPr lang="en-US"/>
              <a:t>Open the csv in ‘\qgis_plugins\Custom_Menus’</a:t>
            </a:r>
            <a:endParaRPr/>
          </a:p>
          <a:p>
            <a:pPr indent="0" lvl="0" marL="0" rtl="0" algn="l">
              <a:spcBef>
                <a:spcPts val="0"/>
              </a:spcBef>
              <a:spcAft>
                <a:spcPts val="0"/>
              </a:spcAft>
              <a:buNone/>
            </a:pPr>
            <a:r>
              <a:rPr lang="en-US"/>
              <a:t>Add some menu items</a:t>
            </a:r>
            <a:endParaRPr/>
          </a:p>
          <a:p>
            <a:pPr indent="0" lvl="0" marL="0" rtl="0" algn="l">
              <a:spcBef>
                <a:spcPts val="0"/>
              </a:spcBef>
              <a:spcAft>
                <a:spcPts val="0"/>
              </a:spcAft>
              <a:buNone/>
            </a:pPr>
            <a:r>
              <a:rPr lang="en-US"/>
              <a:t>Reopen the simple QGIS</a:t>
            </a:r>
            <a:endParaRPr/>
          </a:p>
        </p:txBody>
      </p:sp>
      <p:sp>
        <p:nvSpPr>
          <p:cNvPr id="201" name="Google Shape;201;p13: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10" name="Google Shape;21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14: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22" name="Google Shape;22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DEMO</a:t>
            </a:r>
            <a:endParaRPr/>
          </a:p>
          <a:p>
            <a:pPr indent="0" lvl="0" marL="0" rtl="0" algn="l">
              <a:spcBef>
                <a:spcPts val="0"/>
              </a:spcBef>
              <a:spcAft>
                <a:spcPts val="0"/>
              </a:spcAft>
              <a:buSzPts val="1800"/>
              <a:buNone/>
            </a:pPr>
            <a:r>
              <a:t/>
            </a:r>
            <a:endParaRPr/>
          </a:p>
          <a:p>
            <a:pPr indent="0" lvl="0" marL="0" rtl="0" algn="l">
              <a:spcBef>
                <a:spcPts val="0"/>
              </a:spcBef>
              <a:spcAft>
                <a:spcPts val="0"/>
              </a:spcAft>
              <a:buNone/>
            </a:pPr>
            <a:r>
              <a:rPr lang="en-US"/>
              <a:t>Open ‘\qgis_plugins\searchlayers_custom’</a:t>
            </a:r>
            <a:endParaRPr/>
          </a:p>
          <a:p>
            <a:pPr indent="0" lvl="0" marL="0" rtl="0" algn="l">
              <a:spcBef>
                <a:spcPts val="0"/>
              </a:spcBef>
              <a:spcAft>
                <a:spcPts val="0"/>
              </a:spcAft>
              <a:buNone/>
            </a:pPr>
            <a:r>
              <a:rPr lang="en-US"/>
              <a:t>Add some new search queries and change the results</a:t>
            </a:r>
            <a:endParaRPr/>
          </a:p>
        </p:txBody>
      </p:sp>
      <p:sp>
        <p:nvSpPr>
          <p:cNvPr id="223" name="Google Shape;223;p15: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33" name="Google Shape;23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The system will be tailored to your needs.</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Some clients have a </a:t>
            </a:r>
            <a:endParaRPr/>
          </a:p>
          <a:p>
            <a:pPr indent="0" lvl="0" marL="0" rtl="0" algn="l">
              <a:spcBef>
                <a:spcPts val="0"/>
              </a:spcBef>
              <a:spcAft>
                <a:spcPts val="0"/>
              </a:spcAft>
              <a:buNone/>
            </a:pPr>
            <a:r>
              <a:rPr lang="en-US"/>
              <a:t>production and master store where every night or week data is moved from master to production and no one can write to production and GIS staff can edit master.</a:t>
            </a:r>
            <a:endParaRPr/>
          </a:p>
          <a:p>
            <a:pPr indent="0" lvl="0" marL="0" rtl="0" algn="l">
              <a:spcBef>
                <a:spcPts val="0"/>
              </a:spcBef>
              <a:spcAft>
                <a:spcPts val="0"/>
              </a:spcAft>
              <a:buNone/>
            </a:pPr>
            <a:r>
              <a:rPr lang="en-US"/>
              <a:t>Only a GIS Library where people work in projects and then GIS Administrators copy the files to production manually.</a:t>
            </a:r>
            <a:endParaRPr/>
          </a:p>
          <a:p>
            <a:pPr indent="0" lvl="0" marL="0" rtl="0" algn="l">
              <a:spcBef>
                <a:spcPts val="0"/>
              </a:spcBef>
              <a:spcAft>
                <a:spcPts val="0"/>
              </a:spcAft>
              <a:buNone/>
            </a:pPr>
            <a:r>
              <a:rPr lang="en-US"/>
              <a:t>Databases which QGIS can access with the users permission on the UAC.</a:t>
            </a:r>
            <a:endParaRPr/>
          </a:p>
          <a:p>
            <a:pPr indent="0" lvl="0" marL="0" rtl="0" algn="l">
              <a:spcBef>
                <a:spcPts val="0"/>
              </a:spcBef>
              <a:spcAft>
                <a:spcPts val="0"/>
              </a:spcAft>
              <a:buNone/>
            </a:pPr>
            <a:r>
              <a:rPr lang="en-US"/>
              <a:t>The QGIS version available can be edited to remove edit tools from users based on their permissions and/or the version they choose on startup.</a:t>
            </a:r>
            <a:endParaRPr/>
          </a:p>
          <a:p>
            <a:pPr indent="0" lvl="0" marL="0" rtl="0" algn="l">
              <a:spcBef>
                <a:spcPts val="0"/>
              </a:spcBef>
              <a:spcAft>
                <a:spcPts val="0"/>
              </a:spcAft>
              <a:buNone/>
            </a:pPr>
            <a:r>
              <a:rPr lang="en-US"/>
              <a:t>The versions can load editable (non-production) data depending on the current users requirements</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Our system will adapt to these and other needs as required.</a:t>
            </a:r>
            <a:endParaRPr/>
          </a:p>
        </p:txBody>
      </p:sp>
      <p:sp>
        <p:nvSpPr>
          <p:cNvPr id="234" name="Google Shape;234;p16: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44" name="Google Shape;24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Another common issue (we see often in tender applications) is creation of a system for mobile and online, offline. QGIS mobile (Qfield) allows this when used with GeoPackage layers and QGIS Server allows the web interface.</a:t>
            </a:r>
            <a:endParaRPr/>
          </a:p>
        </p:txBody>
      </p:sp>
      <p:sp>
        <p:nvSpPr>
          <p:cNvPr id="245" name="Google Shape;245;p17: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53" name="Google Shape;25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DEMO</a:t>
            </a:r>
            <a:endParaRPr/>
          </a:p>
          <a:p>
            <a:pPr indent="0" lvl="0" marL="0" rtl="0" algn="l">
              <a:spcBef>
                <a:spcPts val="0"/>
              </a:spcBef>
              <a:spcAft>
                <a:spcPts val="0"/>
              </a:spcAft>
              <a:buSzPts val="1800"/>
              <a:buNone/>
            </a:pPr>
            <a:r>
              <a:t/>
            </a:r>
            <a:endParaRPr/>
          </a:p>
          <a:p>
            <a:pPr indent="0" lvl="0" marL="0" rtl="0" algn="l">
              <a:spcBef>
                <a:spcPts val="0"/>
              </a:spcBef>
              <a:spcAft>
                <a:spcPts val="0"/>
              </a:spcAft>
              <a:buNone/>
            </a:pPr>
            <a:r>
              <a:rPr lang="en-US"/>
              <a:t>Show QGIS mobile project and QSync</a:t>
            </a:r>
            <a:endParaRPr/>
          </a:p>
          <a:p>
            <a:pPr indent="0" lvl="0" marL="0" rtl="0" algn="l">
              <a:spcBef>
                <a:spcPts val="0"/>
              </a:spcBef>
              <a:spcAft>
                <a:spcPts val="0"/>
              </a:spcAft>
              <a:buNone/>
            </a:pPr>
            <a:r>
              <a:rPr lang="en-US"/>
              <a:t>Sync using GSync</a:t>
            </a:r>
            <a:endParaRPr/>
          </a:p>
          <a:p>
            <a:pPr indent="0" lvl="0" marL="0" rtl="0" algn="l">
              <a:spcBef>
                <a:spcPts val="0"/>
              </a:spcBef>
              <a:spcAft>
                <a:spcPts val="0"/>
              </a:spcAft>
              <a:buNone/>
            </a:pPr>
            <a:r>
              <a:rPr lang="en-US"/>
              <a:t>Open QField and </a:t>
            </a:r>
            <a:endParaRPr/>
          </a:p>
          <a:p>
            <a:pPr indent="0" lvl="2" marL="171450" rtl="0" algn="l">
              <a:spcBef>
                <a:spcPts val="0"/>
              </a:spcBef>
              <a:spcAft>
                <a:spcPts val="0"/>
              </a:spcAft>
              <a:buNone/>
            </a:pPr>
            <a:r>
              <a:rPr lang="en-US"/>
              <a:t>Add point data –show drop downs, UID and photo</a:t>
            </a:r>
            <a:endParaRPr/>
          </a:p>
          <a:p>
            <a:pPr indent="0" lvl="0" marL="0" rtl="0" algn="l">
              <a:spcBef>
                <a:spcPts val="0"/>
              </a:spcBef>
              <a:spcAft>
                <a:spcPts val="0"/>
              </a:spcAft>
              <a:buNone/>
            </a:pPr>
            <a:r>
              <a:rPr lang="en-US"/>
              <a:t>Add line data –show auto GIS length</a:t>
            </a:r>
            <a:endParaRPr/>
          </a:p>
          <a:p>
            <a:pPr indent="0" lvl="0" marL="0" rtl="0" algn="l">
              <a:spcBef>
                <a:spcPts val="0"/>
              </a:spcBef>
              <a:spcAft>
                <a:spcPts val="0"/>
              </a:spcAft>
              <a:buNone/>
            </a:pPr>
            <a:r>
              <a:rPr lang="en-US"/>
              <a:t>Sync back</a:t>
            </a:r>
            <a:endParaRPr/>
          </a:p>
          <a:p>
            <a:pPr indent="0" lvl="0" marL="0" rtl="0" algn="l">
              <a:spcBef>
                <a:spcPts val="0"/>
              </a:spcBef>
              <a:spcAft>
                <a:spcPts val="0"/>
              </a:spcAft>
              <a:buNone/>
            </a:pPr>
            <a:r>
              <a:rPr lang="en-US"/>
              <a:t>Show updated data on desktop</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DISCUSS</a:t>
            </a:r>
            <a:endParaRPr/>
          </a:p>
          <a:p>
            <a:pPr indent="0" lvl="0" marL="0" rtl="0" algn="l">
              <a:spcBef>
                <a:spcPts val="0"/>
              </a:spcBef>
              <a:spcAft>
                <a:spcPts val="0"/>
              </a:spcAft>
              <a:buNone/>
            </a:pPr>
            <a:r>
              <a:rPr lang="en-US"/>
              <a:t>Syncing multi-user data : currently only latest version would be accepted, for full multiuser edit and caching/conflict resolution an online database needs to be used.</a:t>
            </a:r>
            <a:endParaRPr/>
          </a:p>
          <a:p>
            <a:pPr indent="0" lvl="0" marL="0" rtl="0" algn="l">
              <a:spcBef>
                <a:spcPts val="0"/>
              </a:spcBef>
              <a:spcAft>
                <a:spcPts val="0"/>
              </a:spcAft>
              <a:buNone/>
            </a:pPr>
            <a:r>
              <a:rPr lang="en-US"/>
              <a:t>Issue with Tab data and workaround</a:t>
            </a:r>
            <a:endParaRPr/>
          </a:p>
          <a:p>
            <a:pPr indent="0" lvl="0" marL="0" rtl="0" algn="l">
              <a:spcBef>
                <a:spcPts val="0"/>
              </a:spcBef>
              <a:spcAft>
                <a:spcPts val="0"/>
              </a:spcAft>
              <a:buNone/>
            </a:pPr>
            <a:r>
              <a:rPr lang="en-US"/>
              <a:t>GPS Tracking being worked on by the creators</a:t>
            </a:r>
            <a:endParaRPr/>
          </a:p>
          <a:p>
            <a:pPr indent="0" lvl="0" marL="0" rtl="0" algn="l">
              <a:spcBef>
                <a:spcPts val="0"/>
              </a:spcBef>
              <a:spcAft>
                <a:spcPts val="0"/>
              </a:spcAft>
              <a:buNone/>
            </a:pPr>
            <a:r>
              <a:rPr lang="en-US"/>
              <a:t>From the Perth Hub see https://www.youtube.com/watch?v=1vkeLQADgR4</a:t>
            </a:r>
            <a:endParaRPr/>
          </a:p>
        </p:txBody>
      </p:sp>
      <p:sp>
        <p:nvSpPr>
          <p:cNvPr id="254" name="Google Shape;254;p18: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64" name="Google Shape;26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I want to share some tips on using QGIS for data collection and editing – let me know if they are as valuable as above.</a:t>
            </a:r>
            <a:endParaRPr/>
          </a:p>
          <a:p>
            <a:pPr indent="0" lvl="0" marL="0" rtl="0" algn="l">
              <a:spcBef>
                <a:spcPts val="0"/>
              </a:spcBef>
              <a:spcAft>
                <a:spcPts val="0"/>
              </a:spcAft>
              <a:buNone/>
            </a:pPr>
            <a:r>
              <a:t/>
            </a:r>
            <a:endParaRPr/>
          </a:p>
          <a:p>
            <a:pPr indent="0" lvl="0" marL="0" rtl="0" algn="l">
              <a:spcBef>
                <a:spcPts val="0"/>
              </a:spcBef>
              <a:spcAft>
                <a:spcPts val="0"/>
              </a:spcAft>
              <a:buSzPts val="1800"/>
              <a:buNone/>
            </a:pPr>
            <a:r>
              <a:rPr lang="en-US"/>
              <a:t>DEMO</a:t>
            </a:r>
            <a:endParaRPr/>
          </a:p>
          <a:p>
            <a:pPr indent="0" lvl="0" marL="0" rtl="0" algn="l">
              <a:spcBef>
                <a:spcPts val="0"/>
              </a:spcBef>
              <a:spcAft>
                <a:spcPts val="0"/>
              </a:spcAft>
              <a:buNone/>
            </a:pPr>
            <a:r>
              <a:rPr lang="en-US"/>
              <a:t>Open Full QGIS</a:t>
            </a:r>
            <a:endParaRPr/>
          </a:p>
          <a:p>
            <a:pPr indent="0" lvl="0" marL="0" rtl="0" algn="l">
              <a:spcBef>
                <a:spcPts val="0"/>
              </a:spcBef>
              <a:spcAft>
                <a:spcPts val="0"/>
              </a:spcAft>
              <a:buNone/>
            </a:pPr>
            <a:r>
              <a:rPr lang="en-US"/>
              <a:t>Show the actions of adding point and line data – focus on the prefilled/drop down list functionality</a:t>
            </a:r>
            <a:endParaRPr/>
          </a:p>
          <a:p>
            <a:pPr indent="0" lvl="0" marL="0" rtl="0" algn="l">
              <a:spcBef>
                <a:spcPts val="0"/>
              </a:spcBef>
              <a:spcAft>
                <a:spcPts val="0"/>
              </a:spcAft>
              <a:buNone/>
            </a:pPr>
            <a:r>
              <a:rPr lang="en-US"/>
              <a:t>Show the code behind the different functions</a:t>
            </a:r>
            <a:endParaRPr/>
          </a:p>
          <a:p>
            <a:pPr indent="0" lvl="0" marL="0" rtl="0" algn="l">
              <a:spcBef>
                <a:spcPts val="0"/>
              </a:spcBef>
              <a:spcAft>
                <a:spcPts val="0"/>
              </a:spcAft>
              <a:buNone/>
            </a:pPr>
            <a:r>
              <a:rPr lang="en-US"/>
              <a:t>Creating drop down forms</a:t>
            </a:r>
            <a:endParaRPr/>
          </a:p>
          <a:p>
            <a:pPr indent="0" lvl="0" marL="0" rtl="0" algn="l">
              <a:spcBef>
                <a:spcPts val="0"/>
              </a:spcBef>
              <a:spcAft>
                <a:spcPts val="0"/>
              </a:spcAft>
              <a:buNone/>
            </a:pPr>
            <a:r>
              <a:rPr lang="en-US"/>
              <a:t>Connecting points to lines for less coding</a:t>
            </a:r>
            <a:endParaRPr/>
          </a:p>
          <a:p>
            <a:pPr indent="0" lvl="0" marL="0" rtl="0" algn="l">
              <a:spcBef>
                <a:spcPts val="0"/>
              </a:spcBef>
              <a:spcAft>
                <a:spcPts val="0"/>
              </a:spcAft>
              <a:buNone/>
            </a:pPr>
            <a:r>
              <a:rPr lang="en-US"/>
              <a:t>Extracting data from one file to another</a:t>
            </a:r>
            <a:endParaRPr/>
          </a:p>
          <a:p>
            <a:pPr indent="0" lvl="0" marL="0" rtl="0" algn="l">
              <a:spcBef>
                <a:spcPts val="0"/>
              </a:spcBef>
              <a:spcAft>
                <a:spcPts val="0"/>
              </a:spcAft>
              <a:buNone/>
            </a:pPr>
            <a:r>
              <a:t/>
            </a:r>
            <a:endParaRPr/>
          </a:p>
          <a:p>
            <a:pPr indent="0" lvl="0" marL="0" rtl="0" algn="l">
              <a:spcBef>
                <a:spcPts val="0"/>
              </a:spcBef>
              <a:spcAft>
                <a:spcPts val="0"/>
              </a:spcAft>
              <a:buSzPts val="1800"/>
              <a:buNone/>
            </a:pPr>
            <a:r>
              <a:rPr lang="en-US"/>
              <a:t>BONUS –if there’s time.</a:t>
            </a:r>
            <a:endParaRPr/>
          </a:p>
          <a:p>
            <a:pPr indent="0" lvl="0" marL="0" rtl="0" algn="l">
              <a:spcBef>
                <a:spcPts val="0"/>
              </a:spcBef>
              <a:spcAft>
                <a:spcPts val="0"/>
              </a:spcAft>
              <a:buNone/>
            </a:pPr>
            <a:r>
              <a:rPr lang="en-US"/>
              <a:t>Running complex queries (use CSC Roads)</a:t>
            </a:r>
            <a:endParaRPr/>
          </a:p>
          <a:p>
            <a:pPr indent="0" lvl="0" marL="0" rtl="0" algn="l">
              <a:spcBef>
                <a:spcPts val="0"/>
              </a:spcBef>
              <a:spcAft>
                <a:spcPts val="0"/>
              </a:spcAft>
              <a:buNone/>
            </a:pPr>
            <a:r>
              <a:t/>
            </a:r>
            <a:endParaRPr/>
          </a:p>
          <a:p>
            <a:pPr indent="0" lvl="0" marL="0" rtl="0" algn="l">
              <a:spcBef>
                <a:spcPts val="0"/>
              </a:spcBef>
              <a:spcAft>
                <a:spcPts val="0"/>
              </a:spcAft>
              <a:buSzPts val="1800"/>
              <a:buNone/>
            </a:pPr>
            <a:r>
              <a:rPr lang="en-US"/>
              <a:t>END</a:t>
            </a:r>
            <a:endParaRPr/>
          </a:p>
          <a:p>
            <a:pPr indent="0" lvl="0" marL="0" rtl="0" algn="l">
              <a:spcBef>
                <a:spcPts val="0"/>
              </a:spcBef>
              <a:spcAft>
                <a:spcPts val="0"/>
              </a:spcAft>
              <a:buSzPts val="1800"/>
              <a:buNone/>
            </a:pPr>
            <a:r>
              <a:rPr lang="en-US"/>
              <a:t>So what do you think? Is this as useful as advise to put your ink cartridge in the washer?</a:t>
            </a:r>
            <a:endParaRPr/>
          </a:p>
        </p:txBody>
      </p:sp>
      <p:sp>
        <p:nvSpPr>
          <p:cNvPr id="265" name="Google Shape;265;p19: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72" name="Google Shape;272;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Thanks for your time, let us know if you have questions</a:t>
            </a:r>
            <a:endParaRPr/>
          </a:p>
        </p:txBody>
      </p:sp>
      <p:sp>
        <p:nvSpPr>
          <p:cNvPr id="273" name="Google Shape;273;p20: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2"/>
          <p:cNvSpPr txBox="1"/>
          <p:nvPr>
            <p:ph type="ctrTitle"/>
          </p:nvPr>
        </p:nvSpPr>
        <p:spPr>
          <a:xfrm>
            <a:off x="1143000" y="841772"/>
            <a:ext cx="6858000" cy="17907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SzPts val="1400"/>
              <a:buNone/>
              <a:defRPr sz="45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7" name="Google Shape;17;p22"/>
          <p:cNvSpPr txBox="1"/>
          <p:nvPr>
            <p:ph idx="1" type="subTitle"/>
          </p:nvPr>
        </p:nvSpPr>
        <p:spPr>
          <a:xfrm>
            <a:off x="1143000" y="2701528"/>
            <a:ext cx="6858000" cy="1241822"/>
          </a:xfrm>
          <a:prstGeom prst="rect">
            <a:avLst/>
          </a:prstGeom>
          <a:noFill/>
          <a:ln>
            <a:noFill/>
          </a:ln>
        </p:spPr>
        <p:txBody>
          <a:bodyPr anchorCtr="0" anchor="t" bIns="45700" lIns="91425" spcFirstLastPara="1" rIns="91425" wrap="square" tIns="45700">
            <a:no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8" name="Google Shape;18;p22"/>
          <p:cNvSpPr txBox="1"/>
          <p:nvPr>
            <p:ph idx="10" type="dt"/>
          </p:nvPr>
        </p:nvSpPr>
        <p:spPr>
          <a:xfrm>
            <a:off x="628650" y="4767262"/>
            <a:ext cx="20574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2"/>
          <p:cNvSpPr txBox="1"/>
          <p:nvPr>
            <p:ph idx="11" type="ftr"/>
          </p:nvPr>
        </p:nvSpPr>
        <p:spPr>
          <a:xfrm>
            <a:off x="3028950" y="4767262"/>
            <a:ext cx="30861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2"/>
          <p:cNvSpPr txBox="1"/>
          <p:nvPr>
            <p:ph idx="12" type="sldNum"/>
          </p:nvPr>
        </p:nvSpPr>
        <p:spPr>
          <a:xfrm>
            <a:off x="6457950" y="4767262"/>
            <a:ext cx="20574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3"/>
          <p:cNvSpPr txBox="1"/>
          <p:nvPr>
            <p:ph type="title"/>
          </p:nvPr>
        </p:nvSpPr>
        <p:spPr>
          <a:xfrm>
            <a:off x="628650" y="274637"/>
            <a:ext cx="7886700" cy="993775"/>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3" name="Google Shape;23;p23"/>
          <p:cNvSpPr txBox="1"/>
          <p:nvPr>
            <p:ph idx="1" type="body"/>
          </p:nvPr>
        </p:nvSpPr>
        <p:spPr>
          <a:xfrm>
            <a:off x="628650" y="1370012"/>
            <a:ext cx="7886700" cy="3262312"/>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4" name="Google Shape;24;p23"/>
          <p:cNvSpPr txBox="1"/>
          <p:nvPr>
            <p:ph idx="10" type="dt"/>
          </p:nvPr>
        </p:nvSpPr>
        <p:spPr>
          <a:xfrm>
            <a:off x="628650" y="4767262"/>
            <a:ext cx="20574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3"/>
          <p:cNvSpPr txBox="1"/>
          <p:nvPr>
            <p:ph idx="11" type="ftr"/>
          </p:nvPr>
        </p:nvSpPr>
        <p:spPr>
          <a:xfrm>
            <a:off x="3028950" y="4767262"/>
            <a:ext cx="30861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3"/>
          <p:cNvSpPr txBox="1"/>
          <p:nvPr>
            <p:ph idx="12" type="sldNum"/>
          </p:nvPr>
        </p:nvSpPr>
        <p:spPr>
          <a:xfrm>
            <a:off x="6457950" y="4767262"/>
            <a:ext cx="20574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
        <p:nvSpPr>
          <p:cNvPr id="28" name="Google Shape;28;p24"/>
          <p:cNvSpPr txBox="1"/>
          <p:nvPr>
            <p:ph idx="10" type="dt"/>
          </p:nvPr>
        </p:nvSpPr>
        <p:spPr>
          <a:xfrm>
            <a:off x="628650" y="4767262"/>
            <a:ext cx="20574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
          <p:cNvSpPr txBox="1"/>
          <p:nvPr>
            <p:ph idx="11" type="ftr"/>
          </p:nvPr>
        </p:nvSpPr>
        <p:spPr>
          <a:xfrm>
            <a:off x="3028950" y="4767262"/>
            <a:ext cx="30861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4"/>
          <p:cNvSpPr txBox="1"/>
          <p:nvPr>
            <p:ph idx="12" type="sldNum"/>
          </p:nvPr>
        </p:nvSpPr>
        <p:spPr>
          <a:xfrm>
            <a:off x="6457950" y="4767262"/>
            <a:ext cx="20574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1" name="Shape 31"/>
        <p:cNvGrpSpPr/>
        <p:nvPr/>
      </p:nvGrpSpPr>
      <p:grpSpPr>
        <a:xfrm>
          <a:off x="0" y="0"/>
          <a:ext cx="0" cy="0"/>
          <a:chOff x="0" y="0"/>
          <a:chExt cx="0" cy="0"/>
        </a:xfrm>
      </p:grpSpPr>
      <p:sp>
        <p:nvSpPr>
          <p:cNvPr id="32" name="Google Shape;32;p25"/>
          <p:cNvSpPr txBox="1"/>
          <p:nvPr>
            <p:ph type="title"/>
          </p:nvPr>
        </p:nvSpPr>
        <p:spPr>
          <a:xfrm rot="5400000">
            <a:off x="5350073" y="1467446"/>
            <a:ext cx="4358879" cy="1971675"/>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3" name="Google Shape;33;p25"/>
          <p:cNvSpPr txBox="1"/>
          <p:nvPr>
            <p:ph idx="1" type="body"/>
          </p:nvPr>
        </p:nvSpPr>
        <p:spPr>
          <a:xfrm rot="5400000">
            <a:off x="1349573" y="-447079"/>
            <a:ext cx="4358879" cy="5800725"/>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4" name="Google Shape;34;p25"/>
          <p:cNvSpPr txBox="1"/>
          <p:nvPr>
            <p:ph idx="10" type="dt"/>
          </p:nvPr>
        </p:nvSpPr>
        <p:spPr>
          <a:xfrm>
            <a:off x="628650" y="4767262"/>
            <a:ext cx="20574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5"/>
          <p:cNvSpPr txBox="1"/>
          <p:nvPr>
            <p:ph idx="11" type="ftr"/>
          </p:nvPr>
        </p:nvSpPr>
        <p:spPr>
          <a:xfrm>
            <a:off x="3028950" y="4767262"/>
            <a:ext cx="30861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5"/>
          <p:cNvSpPr txBox="1"/>
          <p:nvPr>
            <p:ph idx="12" type="sldNum"/>
          </p:nvPr>
        </p:nvSpPr>
        <p:spPr>
          <a:xfrm>
            <a:off x="6457950" y="4767262"/>
            <a:ext cx="20574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7" name="Shape 37"/>
        <p:cNvGrpSpPr/>
        <p:nvPr/>
      </p:nvGrpSpPr>
      <p:grpSpPr>
        <a:xfrm>
          <a:off x="0" y="0"/>
          <a:ext cx="0" cy="0"/>
          <a:chOff x="0" y="0"/>
          <a:chExt cx="0" cy="0"/>
        </a:xfrm>
      </p:grpSpPr>
      <p:sp>
        <p:nvSpPr>
          <p:cNvPr id="38" name="Google Shape;38;p26"/>
          <p:cNvSpPr txBox="1"/>
          <p:nvPr>
            <p:ph type="title"/>
          </p:nvPr>
        </p:nvSpPr>
        <p:spPr>
          <a:xfrm>
            <a:off x="628650" y="274637"/>
            <a:ext cx="7886700" cy="993775"/>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9" name="Google Shape;39;p26"/>
          <p:cNvSpPr txBox="1"/>
          <p:nvPr>
            <p:ph idx="1" type="body"/>
          </p:nvPr>
        </p:nvSpPr>
        <p:spPr>
          <a:xfrm rot="5400000">
            <a:off x="2940844" y="-942182"/>
            <a:ext cx="3262312" cy="78867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0" name="Google Shape;40;p26"/>
          <p:cNvSpPr txBox="1"/>
          <p:nvPr>
            <p:ph idx="10" type="dt"/>
          </p:nvPr>
        </p:nvSpPr>
        <p:spPr>
          <a:xfrm>
            <a:off x="628650" y="4767262"/>
            <a:ext cx="20574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6"/>
          <p:cNvSpPr txBox="1"/>
          <p:nvPr>
            <p:ph idx="11" type="ftr"/>
          </p:nvPr>
        </p:nvSpPr>
        <p:spPr>
          <a:xfrm>
            <a:off x="3028950" y="4767262"/>
            <a:ext cx="30861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6"/>
          <p:cNvSpPr txBox="1"/>
          <p:nvPr>
            <p:ph idx="12" type="sldNum"/>
          </p:nvPr>
        </p:nvSpPr>
        <p:spPr>
          <a:xfrm>
            <a:off x="6457950" y="4767262"/>
            <a:ext cx="20574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3" name="Shape 43"/>
        <p:cNvGrpSpPr/>
        <p:nvPr/>
      </p:nvGrpSpPr>
      <p:grpSpPr>
        <a:xfrm>
          <a:off x="0" y="0"/>
          <a:ext cx="0" cy="0"/>
          <a:chOff x="0" y="0"/>
          <a:chExt cx="0" cy="0"/>
        </a:xfrm>
      </p:grpSpPr>
      <p:sp>
        <p:nvSpPr>
          <p:cNvPr id="44" name="Google Shape;44;p27"/>
          <p:cNvSpPr txBox="1"/>
          <p:nvPr>
            <p:ph type="title"/>
          </p:nvPr>
        </p:nvSpPr>
        <p:spPr>
          <a:xfrm>
            <a:off x="629841" y="342900"/>
            <a:ext cx="2949178" cy="120015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24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5" name="Google Shape;45;p27"/>
          <p:cNvSpPr/>
          <p:nvPr>
            <p:ph idx="2" type="pic"/>
          </p:nvPr>
        </p:nvSpPr>
        <p:spPr>
          <a:xfrm>
            <a:off x="3887391" y="740569"/>
            <a:ext cx="4629150" cy="3655219"/>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75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marR="0" rtl="0" algn="l">
              <a:lnSpc>
                <a:spcPct val="90000"/>
              </a:lnSpc>
              <a:spcBef>
                <a:spcPts val="375"/>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2pPr>
            <a:lvl3pPr lvl="2" marR="0" rtl="0" algn="l">
              <a:lnSpc>
                <a:spcPct val="90000"/>
              </a:lnSpc>
              <a:spcBef>
                <a:spcPts val="375"/>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4pPr>
            <a:lvl5pPr lvl="4"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5pPr>
            <a:lvl6pPr lvl="5"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6pPr>
            <a:lvl7pPr lvl="6"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7pPr>
            <a:lvl8pPr lvl="7"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lvl="8"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9pPr>
          </a:lstStyle>
          <a:p/>
        </p:txBody>
      </p:sp>
      <p:sp>
        <p:nvSpPr>
          <p:cNvPr id="46" name="Google Shape;46;p27"/>
          <p:cNvSpPr txBox="1"/>
          <p:nvPr>
            <p:ph idx="1" type="body"/>
          </p:nvPr>
        </p:nvSpPr>
        <p:spPr>
          <a:xfrm>
            <a:off x="629841" y="1543050"/>
            <a:ext cx="2949178" cy="2858691"/>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47" name="Google Shape;47;p27"/>
          <p:cNvSpPr txBox="1"/>
          <p:nvPr>
            <p:ph idx="10" type="dt"/>
          </p:nvPr>
        </p:nvSpPr>
        <p:spPr>
          <a:xfrm>
            <a:off x="628650" y="4767262"/>
            <a:ext cx="20574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7"/>
          <p:cNvSpPr txBox="1"/>
          <p:nvPr>
            <p:ph idx="11" type="ftr"/>
          </p:nvPr>
        </p:nvSpPr>
        <p:spPr>
          <a:xfrm>
            <a:off x="3028950" y="4767262"/>
            <a:ext cx="30861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7"/>
          <p:cNvSpPr txBox="1"/>
          <p:nvPr>
            <p:ph idx="12" type="sldNum"/>
          </p:nvPr>
        </p:nvSpPr>
        <p:spPr>
          <a:xfrm>
            <a:off x="6457950" y="4767262"/>
            <a:ext cx="20574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 name="Shape 50"/>
        <p:cNvGrpSpPr/>
        <p:nvPr/>
      </p:nvGrpSpPr>
      <p:grpSpPr>
        <a:xfrm>
          <a:off x="0" y="0"/>
          <a:ext cx="0" cy="0"/>
          <a:chOff x="0" y="0"/>
          <a:chExt cx="0" cy="0"/>
        </a:xfrm>
      </p:grpSpPr>
      <p:sp>
        <p:nvSpPr>
          <p:cNvPr id="51" name="Google Shape;51;p28"/>
          <p:cNvSpPr txBox="1"/>
          <p:nvPr>
            <p:ph type="title"/>
          </p:nvPr>
        </p:nvSpPr>
        <p:spPr>
          <a:xfrm>
            <a:off x="629841" y="342900"/>
            <a:ext cx="2949178" cy="120015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24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52" name="Google Shape;52;p28"/>
          <p:cNvSpPr txBox="1"/>
          <p:nvPr>
            <p:ph idx="1" type="body"/>
          </p:nvPr>
        </p:nvSpPr>
        <p:spPr>
          <a:xfrm>
            <a:off x="3887391" y="740569"/>
            <a:ext cx="4629150" cy="3655219"/>
          </a:xfrm>
          <a:prstGeom prst="rect">
            <a:avLst/>
          </a:prstGeom>
          <a:noFill/>
          <a:ln>
            <a:noFill/>
          </a:ln>
        </p:spPr>
        <p:txBody>
          <a:bodyPr anchorCtr="0" anchor="t" bIns="45700" lIns="91425" spcFirstLastPara="1" rIns="91425" wrap="square" tIns="45700">
            <a:no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53" name="Google Shape;53;p28"/>
          <p:cNvSpPr txBox="1"/>
          <p:nvPr>
            <p:ph idx="2" type="body"/>
          </p:nvPr>
        </p:nvSpPr>
        <p:spPr>
          <a:xfrm>
            <a:off x="629841" y="1543050"/>
            <a:ext cx="2949178" cy="2858691"/>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54" name="Google Shape;54;p28"/>
          <p:cNvSpPr txBox="1"/>
          <p:nvPr>
            <p:ph idx="10" type="dt"/>
          </p:nvPr>
        </p:nvSpPr>
        <p:spPr>
          <a:xfrm>
            <a:off x="628650" y="4767262"/>
            <a:ext cx="20574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8"/>
          <p:cNvSpPr txBox="1"/>
          <p:nvPr>
            <p:ph idx="11" type="ftr"/>
          </p:nvPr>
        </p:nvSpPr>
        <p:spPr>
          <a:xfrm>
            <a:off x="3028950" y="4767262"/>
            <a:ext cx="30861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8"/>
          <p:cNvSpPr txBox="1"/>
          <p:nvPr>
            <p:ph idx="12" type="sldNum"/>
          </p:nvPr>
        </p:nvSpPr>
        <p:spPr>
          <a:xfrm>
            <a:off x="6457950" y="4767262"/>
            <a:ext cx="20574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29"/>
          <p:cNvSpPr txBox="1"/>
          <p:nvPr>
            <p:ph type="title"/>
          </p:nvPr>
        </p:nvSpPr>
        <p:spPr>
          <a:xfrm>
            <a:off x="628650" y="274637"/>
            <a:ext cx="7886700" cy="993775"/>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59" name="Google Shape;59;p29"/>
          <p:cNvSpPr txBox="1"/>
          <p:nvPr>
            <p:ph idx="10" type="dt"/>
          </p:nvPr>
        </p:nvSpPr>
        <p:spPr>
          <a:xfrm>
            <a:off x="628650" y="4767262"/>
            <a:ext cx="20574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9"/>
          <p:cNvSpPr txBox="1"/>
          <p:nvPr>
            <p:ph idx="11" type="ftr"/>
          </p:nvPr>
        </p:nvSpPr>
        <p:spPr>
          <a:xfrm>
            <a:off x="3028950" y="4767262"/>
            <a:ext cx="30861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9"/>
          <p:cNvSpPr txBox="1"/>
          <p:nvPr>
            <p:ph idx="12" type="sldNum"/>
          </p:nvPr>
        </p:nvSpPr>
        <p:spPr>
          <a:xfrm>
            <a:off x="6457950" y="4767262"/>
            <a:ext cx="20574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30"/>
          <p:cNvSpPr txBox="1"/>
          <p:nvPr>
            <p:ph type="title"/>
          </p:nvPr>
        </p:nvSpPr>
        <p:spPr>
          <a:xfrm>
            <a:off x="629841" y="273844"/>
            <a:ext cx="7886700" cy="99417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4" name="Google Shape;64;p30"/>
          <p:cNvSpPr txBox="1"/>
          <p:nvPr>
            <p:ph idx="1" type="body"/>
          </p:nvPr>
        </p:nvSpPr>
        <p:spPr>
          <a:xfrm>
            <a:off x="629842" y="1260872"/>
            <a:ext cx="3868340" cy="61793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65" name="Google Shape;65;p30"/>
          <p:cNvSpPr txBox="1"/>
          <p:nvPr>
            <p:ph idx="2" type="body"/>
          </p:nvPr>
        </p:nvSpPr>
        <p:spPr>
          <a:xfrm>
            <a:off x="629842" y="1878806"/>
            <a:ext cx="3868340" cy="2763441"/>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6" name="Google Shape;66;p30"/>
          <p:cNvSpPr txBox="1"/>
          <p:nvPr>
            <p:ph idx="3" type="body"/>
          </p:nvPr>
        </p:nvSpPr>
        <p:spPr>
          <a:xfrm>
            <a:off x="4629150" y="1260872"/>
            <a:ext cx="3887391" cy="61793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67" name="Google Shape;67;p30"/>
          <p:cNvSpPr txBox="1"/>
          <p:nvPr>
            <p:ph idx="4" type="body"/>
          </p:nvPr>
        </p:nvSpPr>
        <p:spPr>
          <a:xfrm>
            <a:off x="4629150" y="1878806"/>
            <a:ext cx="3887391" cy="2763441"/>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8" name="Google Shape;68;p30"/>
          <p:cNvSpPr txBox="1"/>
          <p:nvPr>
            <p:ph idx="10" type="dt"/>
          </p:nvPr>
        </p:nvSpPr>
        <p:spPr>
          <a:xfrm>
            <a:off x="628650" y="4767262"/>
            <a:ext cx="20574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30"/>
          <p:cNvSpPr txBox="1"/>
          <p:nvPr>
            <p:ph idx="11" type="ftr"/>
          </p:nvPr>
        </p:nvSpPr>
        <p:spPr>
          <a:xfrm>
            <a:off x="3028950" y="4767262"/>
            <a:ext cx="30861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0"/>
          <p:cNvSpPr txBox="1"/>
          <p:nvPr>
            <p:ph idx="12" type="sldNum"/>
          </p:nvPr>
        </p:nvSpPr>
        <p:spPr>
          <a:xfrm>
            <a:off x="6457950" y="4767262"/>
            <a:ext cx="20574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1" name="Shape 71"/>
        <p:cNvGrpSpPr/>
        <p:nvPr/>
      </p:nvGrpSpPr>
      <p:grpSpPr>
        <a:xfrm>
          <a:off x="0" y="0"/>
          <a:ext cx="0" cy="0"/>
          <a:chOff x="0" y="0"/>
          <a:chExt cx="0" cy="0"/>
        </a:xfrm>
      </p:grpSpPr>
      <p:sp>
        <p:nvSpPr>
          <p:cNvPr id="72" name="Google Shape;72;p31"/>
          <p:cNvSpPr txBox="1"/>
          <p:nvPr>
            <p:ph type="title"/>
          </p:nvPr>
        </p:nvSpPr>
        <p:spPr>
          <a:xfrm>
            <a:off x="628650" y="274637"/>
            <a:ext cx="7886700" cy="993775"/>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3" name="Google Shape;73;p31"/>
          <p:cNvSpPr txBox="1"/>
          <p:nvPr>
            <p:ph idx="1" type="body"/>
          </p:nvPr>
        </p:nvSpPr>
        <p:spPr>
          <a:xfrm>
            <a:off x="628650" y="1369219"/>
            <a:ext cx="3886200" cy="3263504"/>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4" name="Google Shape;74;p31"/>
          <p:cNvSpPr txBox="1"/>
          <p:nvPr>
            <p:ph idx="2" type="body"/>
          </p:nvPr>
        </p:nvSpPr>
        <p:spPr>
          <a:xfrm>
            <a:off x="4629150" y="1369219"/>
            <a:ext cx="3886200" cy="3263504"/>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5" name="Google Shape;75;p31"/>
          <p:cNvSpPr txBox="1"/>
          <p:nvPr>
            <p:ph idx="10" type="dt"/>
          </p:nvPr>
        </p:nvSpPr>
        <p:spPr>
          <a:xfrm>
            <a:off x="628650" y="4767262"/>
            <a:ext cx="20574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1"/>
          <p:cNvSpPr txBox="1"/>
          <p:nvPr>
            <p:ph idx="11" type="ftr"/>
          </p:nvPr>
        </p:nvSpPr>
        <p:spPr>
          <a:xfrm>
            <a:off x="3028950" y="4767262"/>
            <a:ext cx="30861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1"/>
          <p:cNvSpPr txBox="1"/>
          <p:nvPr>
            <p:ph idx="12" type="sldNum"/>
          </p:nvPr>
        </p:nvSpPr>
        <p:spPr>
          <a:xfrm>
            <a:off x="6457950" y="4767262"/>
            <a:ext cx="20574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8" name="Shape 78"/>
        <p:cNvGrpSpPr/>
        <p:nvPr/>
      </p:nvGrpSpPr>
      <p:grpSpPr>
        <a:xfrm>
          <a:off x="0" y="0"/>
          <a:ext cx="0" cy="0"/>
          <a:chOff x="0" y="0"/>
          <a:chExt cx="0" cy="0"/>
        </a:xfrm>
      </p:grpSpPr>
      <p:sp>
        <p:nvSpPr>
          <p:cNvPr id="79" name="Google Shape;79;p32"/>
          <p:cNvSpPr txBox="1"/>
          <p:nvPr>
            <p:ph type="title"/>
          </p:nvPr>
        </p:nvSpPr>
        <p:spPr>
          <a:xfrm>
            <a:off x="623888" y="1282304"/>
            <a:ext cx="7886700" cy="2139553"/>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45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80" name="Google Shape;80;p32"/>
          <p:cNvSpPr txBox="1"/>
          <p:nvPr>
            <p:ph idx="1" type="body"/>
          </p:nvPr>
        </p:nvSpPr>
        <p:spPr>
          <a:xfrm>
            <a:off x="623888" y="3442098"/>
            <a:ext cx="7886700" cy="112514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81" name="Google Shape;81;p32"/>
          <p:cNvSpPr txBox="1"/>
          <p:nvPr>
            <p:ph idx="10" type="dt"/>
          </p:nvPr>
        </p:nvSpPr>
        <p:spPr>
          <a:xfrm>
            <a:off x="628650" y="4767262"/>
            <a:ext cx="20574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2"/>
          <p:cNvSpPr txBox="1"/>
          <p:nvPr>
            <p:ph idx="11" type="ftr"/>
          </p:nvPr>
        </p:nvSpPr>
        <p:spPr>
          <a:xfrm>
            <a:off x="3028950" y="4767262"/>
            <a:ext cx="30861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2"/>
          <p:cNvSpPr txBox="1"/>
          <p:nvPr>
            <p:ph idx="12" type="sldNum"/>
          </p:nvPr>
        </p:nvSpPr>
        <p:spPr>
          <a:xfrm>
            <a:off x="6457950" y="4767262"/>
            <a:ext cx="20574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1"/>
          <p:cNvSpPr txBox="1"/>
          <p:nvPr>
            <p:ph type="title"/>
          </p:nvPr>
        </p:nvSpPr>
        <p:spPr>
          <a:xfrm>
            <a:off x="628650" y="274637"/>
            <a:ext cx="7886700" cy="993775"/>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3300" u="none" cap="none" strike="noStrike">
                <a:solidFill>
                  <a:schemeClr val="dk1"/>
                </a:solidFill>
                <a:latin typeface="Arial"/>
                <a:ea typeface="Arial"/>
                <a:cs typeface="Arial"/>
                <a:sym typeface="Arial"/>
              </a:defRPr>
            </a:lvl1pPr>
            <a:lvl2pPr lvl="1" marR="0" rtl="0" algn="l">
              <a:lnSpc>
                <a:spcPct val="90000"/>
              </a:lnSpc>
              <a:spcBef>
                <a:spcPts val="0"/>
              </a:spcBef>
              <a:spcAft>
                <a:spcPts val="0"/>
              </a:spcAft>
              <a:buSzPts val="1400"/>
              <a:buNone/>
              <a:defRPr b="0" i="0" sz="3300" u="none" cap="none" strike="noStrike">
                <a:solidFill>
                  <a:schemeClr val="dk1"/>
                </a:solidFill>
                <a:latin typeface="Arial"/>
                <a:ea typeface="Arial"/>
                <a:cs typeface="Arial"/>
                <a:sym typeface="Arial"/>
              </a:defRPr>
            </a:lvl2pPr>
            <a:lvl3pPr lvl="2" marR="0" rtl="0" algn="l">
              <a:lnSpc>
                <a:spcPct val="90000"/>
              </a:lnSpc>
              <a:spcBef>
                <a:spcPts val="0"/>
              </a:spcBef>
              <a:spcAft>
                <a:spcPts val="0"/>
              </a:spcAft>
              <a:buSzPts val="1400"/>
              <a:buNone/>
              <a:defRPr b="0" i="0" sz="3300" u="none" cap="none" strike="noStrike">
                <a:solidFill>
                  <a:schemeClr val="dk1"/>
                </a:solidFill>
                <a:latin typeface="Arial"/>
                <a:ea typeface="Arial"/>
                <a:cs typeface="Arial"/>
                <a:sym typeface="Arial"/>
              </a:defRPr>
            </a:lvl3pPr>
            <a:lvl4pPr lvl="3" marR="0" rtl="0" algn="l">
              <a:lnSpc>
                <a:spcPct val="90000"/>
              </a:lnSpc>
              <a:spcBef>
                <a:spcPts val="0"/>
              </a:spcBef>
              <a:spcAft>
                <a:spcPts val="0"/>
              </a:spcAft>
              <a:buSzPts val="1400"/>
              <a:buNone/>
              <a:defRPr b="0" i="0" sz="3300" u="none" cap="none" strike="noStrike">
                <a:solidFill>
                  <a:schemeClr val="dk1"/>
                </a:solidFill>
                <a:latin typeface="Arial"/>
                <a:ea typeface="Arial"/>
                <a:cs typeface="Arial"/>
                <a:sym typeface="Arial"/>
              </a:defRPr>
            </a:lvl4pPr>
            <a:lvl5pPr lvl="4" marR="0" rtl="0" algn="l">
              <a:lnSpc>
                <a:spcPct val="90000"/>
              </a:lnSpc>
              <a:spcBef>
                <a:spcPts val="0"/>
              </a:spcBef>
              <a:spcAft>
                <a:spcPts val="0"/>
              </a:spcAft>
              <a:buSzPts val="1400"/>
              <a:buNone/>
              <a:defRPr b="0" i="0" sz="3300" u="none" cap="none" strike="noStrike">
                <a:solidFill>
                  <a:schemeClr val="dk1"/>
                </a:solidFill>
                <a:latin typeface="Arial"/>
                <a:ea typeface="Arial"/>
                <a:cs typeface="Arial"/>
                <a:sym typeface="Arial"/>
              </a:defRPr>
            </a:lvl5pPr>
            <a:lvl6pPr lvl="5"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9pPr>
          </a:lstStyle>
          <a:p/>
        </p:txBody>
      </p:sp>
      <p:sp>
        <p:nvSpPr>
          <p:cNvPr id="11" name="Google Shape;11;p21"/>
          <p:cNvSpPr txBox="1"/>
          <p:nvPr>
            <p:ph idx="1" type="body"/>
          </p:nvPr>
        </p:nvSpPr>
        <p:spPr>
          <a:xfrm>
            <a:off x="628650" y="1370012"/>
            <a:ext cx="7886700" cy="3262312"/>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1150" lvl="3" marL="18288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Arial"/>
                <a:ea typeface="Arial"/>
                <a:cs typeface="Arial"/>
                <a:sym typeface="Arial"/>
              </a:defRPr>
            </a:lvl4pPr>
            <a:lvl5pPr indent="-311150" lvl="4" marL="22860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
        <p:nvSpPr>
          <p:cNvPr id="12" name="Google Shape;12;p21"/>
          <p:cNvSpPr txBox="1"/>
          <p:nvPr>
            <p:ph idx="10" type="dt"/>
          </p:nvPr>
        </p:nvSpPr>
        <p:spPr>
          <a:xfrm>
            <a:off x="628650" y="4767262"/>
            <a:ext cx="2057400" cy="274637"/>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9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SzPts val="1400"/>
              <a:buNone/>
              <a:defRPr b="0" i="0" sz="13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3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3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3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3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3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3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300" u="none" cap="none" strike="noStrike">
                <a:solidFill>
                  <a:schemeClr val="dk1"/>
                </a:solidFill>
                <a:latin typeface="Calibri"/>
                <a:ea typeface="Calibri"/>
                <a:cs typeface="Calibri"/>
                <a:sym typeface="Calibri"/>
              </a:defRPr>
            </a:lvl9pPr>
          </a:lstStyle>
          <a:p/>
        </p:txBody>
      </p:sp>
      <p:sp>
        <p:nvSpPr>
          <p:cNvPr id="13" name="Google Shape;13;p21"/>
          <p:cNvSpPr txBox="1"/>
          <p:nvPr>
            <p:ph idx="11" type="ftr"/>
          </p:nvPr>
        </p:nvSpPr>
        <p:spPr>
          <a:xfrm>
            <a:off x="3028950" y="4767262"/>
            <a:ext cx="3086100" cy="274637"/>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3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3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3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3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3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3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3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300" u="none" cap="none" strike="noStrike">
                <a:solidFill>
                  <a:schemeClr val="dk1"/>
                </a:solidFill>
                <a:latin typeface="Calibri"/>
                <a:ea typeface="Calibri"/>
                <a:cs typeface="Calibri"/>
                <a:sym typeface="Calibri"/>
              </a:defRPr>
            </a:lvl9pPr>
          </a:lstStyle>
          <a:p/>
        </p:txBody>
      </p:sp>
      <p:sp>
        <p:nvSpPr>
          <p:cNvPr id="14" name="Google Shape;14;p21"/>
          <p:cNvSpPr txBox="1"/>
          <p:nvPr>
            <p:ph idx="12" type="sldNum"/>
          </p:nvPr>
        </p:nvSpPr>
        <p:spPr>
          <a:xfrm>
            <a:off x="6457950" y="4767262"/>
            <a:ext cx="2057400" cy="274637"/>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9.jpg"/><Relationship Id="rId5" Type="http://schemas.openxmlformats.org/officeDocument/2006/relationships/hyperlink" Target="https://en.wikipedia.org/wiki/Peptide_loading_complex" TargetMode="External"/><Relationship Id="rId6" Type="http://schemas.openxmlformats.org/officeDocument/2006/relationships/hyperlink" Target="https://creativecommons.org/licenses/by-sa/3.0/" TargetMode="External"/><Relationship Id="rId7"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hyperlink" Target="https://en.wikipedia.org/wiki/Peptide_loading_complex" TargetMode="External"/><Relationship Id="rId5" Type="http://schemas.openxmlformats.org/officeDocument/2006/relationships/hyperlink" Target="https://creativecommons.org/licenses/by-sa/3.0/" TargetMode="External"/><Relationship Id="rId6" Type="http://schemas.openxmlformats.org/officeDocument/2006/relationships/image" Target="../media/image1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hyperlink" Target="https://www.e-education.psu.edu/geog583/node/55" TargetMode="External"/><Relationship Id="rId6" Type="http://schemas.openxmlformats.org/officeDocument/2006/relationships/hyperlink" Target="https://creativecommons.org/licenses/by-nc-sa/3.0/"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hyperlink" Target="about:blank" TargetMode="External"/><Relationship Id="rId5"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24.png"/><Relationship Id="rId5" Type="http://schemas.openxmlformats.org/officeDocument/2006/relationships/hyperlink" Target="http://security.stackexchange.com/questions/34471/should-the-requirement-of-admin-privileges-be-extended" TargetMode="External"/><Relationship Id="rId6" Type="http://schemas.openxmlformats.org/officeDocument/2006/relationships/hyperlink" Target="https://creativecommons.org/licenses/by-sa/3.0/"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3.png"/><Relationship Id="rId5"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23.png"/><Relationship Id="rId5" Type="http://schemas.openxmlformats.org/officeDocument/2006/relationships/image" Target="../media/image26.jpg"/><Relationship Id="rId6" Type="http://schemas.openxmlformats.org/officeDocument/2006/relationships/image" Target="../media/image2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1"/>
          <p:cNvPicPr preferRelativeResize="0"/>
          <p:nvPr/>
        </p:nvPicPr>
        <p:blipFill rotWithShape="1">
          <a:blip r:embed="rId3">
            <a:alphaModFix/>
          </a:blip>
          <a:srcRect b="0" l="0" r="0" t="0"/>
          <a:stretch/>
        </p:blipFill>
        <p:spPr>
          <a:xfrm>
            <a:off x="0" y="-2005012"/>
            <a:ext cx="9140825" cy="5143500"/>
          </a:xfrm>
          <a:prstGeom prst="rect">
            <a:avLst/>
          </a:prstGeom>
          <a:noFill/>
          <a:ln>
            <a:noFill/>
          </a:ln>
        </p:spPr>
      </p:pic>
      <p:pic>
        <p:nvPicPr>
          <p:cNvPr id="90" name="Google Shape;90;p1"/>
          <p:cNvPicPr preferRelativeResize="0"/>
          <p:nvPr/>
        </p:nvPicPr>
        <p:blipFill rotWithShape="1">
          <a:blip r:embed="rId4">
            <a:alphaModFix/>
          </a:blip>
          <a:srcRect b="0" l="0" r="0" t="0"/>
          <a:stretch/>
        </p:blipFill>
        <p:spPr>
          <a:xfrm>
            <a:off x="122237" y="4652962"/>
            <a:ext cx="1912937" cy="388937"/>
          </a:xfrm>
          <a:prstGeom prst="rect">
            <a:avLst/>
          </a:prstGeom>
          <a:noFill/>
          <a:ln>
            <a:noFill/>
          </a:ln>
        </p:spPr>
      </p:pic>
      <p:sp>
        <p:nvSpPr>
          <p:cNvPr id="91" name="Google Shape;91;p1"/>
          <p:cNvSpPr txBox="1"/>
          <p:nvPr/>
        </p:nvSpPr>
        <p:spPr>
          <a:xfrm>
            <a:off x="3116262" y="3209925"/>
            <a:ext cx="5803900" cy="1346200"/>
          </a:xfrm>
          <a:prstGeom prst="rect">
            <a:avLst/>
          </a:prstGeom>
          <a:noFill/>
          <a:ln>
            <a:noFill/>
          </a:ln>
        </p:spPr>
        <p:txBody>
          <a:bodyPr anchorCtr="0" anchor="t" bIns="45700" lIns="91425" spcFirstLastPara="1" rIns="91425" wrap="square" tIns="45700">
            <a:spAutoFit/>
          </a:bodyPr>
          <a:lstStyle/>
          <a:p>
            <a:pPr indent="0" lvl="0" marL="0" marR="0" rtl="0" algn="r">
              <a:lnSpc>
                <a:spcPct val="15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George Corea, Data Manager, Mangoesmapping</a:t>
            </a:r>
            <a:endParaRPr/>
          </a:p>
          <a:p>
            <a:pPr indent="0" lvl="0" marL="0" marR="0" rtl="0" algn="r">
              <a:lnSpc>
                <a:spcPct val="15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FunGIS FOSS4G 2020, JCU Ideas Lab</a:t>
            </a:r>
            <a:endParaRPr/>
          </a:p>
          <a:p>
            <a:pPr indent="0" lvl="0" marL="0" marR="0" rtl="0" algn="r">
              <a:lnSpc>
                <a:spcPct val="15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20-11-2020</a:t>
            </a:r>
            <a:endParaRPr/>
          </a:p>
        </p:txBody>
      </p:sp>
      <p:sp>
        <p:nvSpPr>
          <p:cNvPr id="92" name="Google Shape;92;p1"/>
          <p:cNvSpPr txBox="1"/>
          <p:nvPr>
            <p:ph type="ctrTitle"/>
          </p:nvPr>
        </p:nvSpPr>
        <p:spPr>
          <a:xfrm>
            <a:off x="533400" y="2165350"/>
            <a:ext cx="7618412" cy="8128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000000"/>
              </a:buClr>
              <a:buSzPts val="4400"/>
              <a:buFont typeface="Arial"/>
              <a:buNone/>
            </a:pPr>
            <a:r>
              <a:rPr b="0" i="0" lang="en-US" sz="4400" u="none">
                <a:solidFill>
                  <a:srgbClr val="000000"/>
                </a:solidFill>
                <a:latin typeface="Arial"/>
                <a:ea typeface="Arial"/>
                <a:cs typeface="Arial"/>
                <a:sym typeface="Arial"/>
              </a:rPr>
              <a:t>Democratising QGIS </a:t>
            </a:r>
            <a:r>
              <a:rPr b="0" i="0" lang="en-US" sz="2400" u="none">
                <a:solidFill>
                  <a:srgbClr val="000000"/>
                </a:solidFill>
                <a:latin typeface="Arial"/>
                <a:ea typeface="Arial"/>
                <a:cs typeface="Arial"/>
                <a:sym typeface="Arial"/>
              </a:rPr>
              <a:t> </a:t>
            </a:r>
            <a:r>
              <a:rPr b="0" i="1" lang="en-US" sz="2400" u="none">
                <a:solidFill>
                  <a:srgbClr val="000000"/>
                </a:solidFill>
                <a:latin typeface="Arial"/>
                <a:ea typeface="Arial"/>
                <a:cs typeface="Arial"/>
                <a:sym typeface="Arial"/>
              </a:rPr>
              <a:t>- and handy tips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id="98" name="Google Shape;98;p2"/>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Diagram&#10;&#10;Description automatically generated" id="99" name="Google Shape;99;p2"/>
          <p:cNvPicPr preferRelativeResize="0"/>
          <p:nvPr/>
        </p:nvPicPr>
        <p:blipFill rotWithShape="1">
          <a:blip r:embed="rId4">
            <a:alphaModFix/>
          </a:blip>
          <a:srcRect b="0" l="0" r="0" t="0"/>
          <a:stretch/>
        </p:blipFill>
        <p:spPr>
          <a:xfrm>
            <a:off x="2676525" y="374650"/>
            <a:ext cx="3790950" cy="4067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id="105" name="Google Shape;105;p3"/>
          <p:cNvPicPr preferRelativeResize="0"/>
          <p:nvPr/>
        </p:nvPicPr>
        <p:blipFill rotWithShape="1">
          <a:blip r:embed="rId3">
            <a:alphaModFix/>
          </a:blip>
          <a:srcRect b="0" l="0" r="0" t="0"/>
          <a:stretch/>
        </p:blipFill>
        <p:spPr>
          <a:xfrm>
            <a:off x="0" y="15875"/>
            <a:ext cx="9144000" cy="5143500"/>
          </a:xfrm>
          <a:prstGeom prst="rect">
            <a:avLst/>
          </a:prstGeom>
          <a:noFill/>
          <a:ln>
            <a:noFill/>
          </a:ln>
        </p:spPr>
      </p:pic>
      <p:sp>
        <p:nvSpPr>
          <p:cNvPr id="106" name="Google Shape;106;p3"/>
          <p:cNvSpPr txBox="1"/>
          <p:nvPr/>
        </p:nvSpPr>
        <p:spPr>
          <a:xfrm>
            <a:off x="5407025" y="1017587"/>
            <a:ext cx="3549650" cy="2508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Do they find it…</a:t>
            </a:r>
            <a:endParaRPr/>
          </a:p>
          <a:p>
            <a:pPr indent="0" lvl="0" marL="0" marR="0" rtl="0" algn="l">
              <a:lnSpc>
                <a:spcPct val="100000"/>
              </a:lnSpc>
              <a:spcBef>
                <a:spcPts val="0"/>
              </a:spcBef>
              <a:spcAft>
                <a:spcPts val="0"/>
              </a:spcAft>
              <a:buClr>
                <a:schemeClr val="dk1"/>
              </a:buClr>
              <a:buSzPts val="1600"/>
              <a:buFont typeface="Calibri"/>
              <a:buNone/>
            </a:pPr>
            <a:r>
              <a:t/>
            </a:r>
            <a:endParaRPr b="1" i="0" sz="1600" u="none" cap="none" strike="noStrike">
              <a:solidFill>
                <a:schemeClr val="dk1"/>
              </a:solidFill>
              <a:latin typeface="Arial"/>
              <a:ea typeface="Arial"/>
              <a:cs typeface="Arial"/>
              <a:sym typeface="Arial"/>
            </a:endParaRPr>
          </a:p>
          <a:p>
            <a:pPr indent="-101600" lvl="0" marL="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Too complicated?</a:t>
            </a:r>
            <a:endParaRPr/>
          </a:p>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101600" lvl="0" marL="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Simplified tasks?</a:t>
            </a:r>
            <a:endParaRPr/>
          </a:p>
          <a:p>
            <a:pPr indent="0" lvl="0" marL="0" marR="0" rtl="0" algn="l">
              <a:lnSpc>
                <a:spcPct val="100000"/>
              </a:lnSpc>
              <a:spcBef>
                <a:spcPts val="0"/>
              </a:spcBef>
              <a:spcAft>
                <a:spcPts val="0"/>
              </a:spcAft>
              <a:buClr>
                <a:schemeClr val="dk1"/>
              </a:buClr>
              <a:buSzPts val="1600"/>
              <a:buFont typeface="Arial"/>
              <a:buNone/>
            </a:pPr>
            <a:br>
              <a:rPr b="0" i="0" lang="en-US" sz="1600" u="none" cap="none" strike="noStrike">
                <a:solidFill>
                  <a:schemeClr val="dk1"/>
                </a:solidFill>
                <a:latin typeface="Arial"/>
                <a:ea typeface="Arial"/>
                <a:cs typeface="Arial"/>
                <a:sym typeface="Arial"/>
              </a:rPr>
            </a:br>
            <a:endParaRPr/>
          </a:p>
          <a:p>
            <a:pPr indent="-101600" lvl="0" marL="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SQL without knowing SQL?</a:t>
            </a:r>
            <a:endParaRPr/>
          </a:p>
          <a:p>
            <a:pPr indent="0" lvl="0" marL="0" marR="0" rtl="0" algn="l">
              <a:lnSpc>
                <a:spcPct val="100000"/>
              </a:lnSpc>
              <a:spcBef>
                <a:spcPts val="0"/>
              </a:spcBef>
              <a:spcAft>
                <a:spcPts val="0"/>
              </a:spcAft>
              <a:buNone/>
            </a:pPr>
            <a:r>
              <a:t/>
            </a:r>
            <a:endParaRPr b="0" i="0" sz="1600" u="none">
              <a:solidFill>
                <a:schemeClr val="dk1"/>
              </a:solidFill>
              <a:latin typeface="Arial"/>
              <a:ea typeface="Arial"/>
              <a:cs typeface="Arial"/>
              <a:sym typeface="Arial"/>
            </a:endParaRPr>
          </a:p>
        </p:txBody>
      </p:sp>
      <p:pic>
        <p:nvPicPr>
          <p:cNvPr descr="Diagram&#10;&#10;Description automatically generated" id="107" name="Google Shape;107;p3"/>
          <p:cNvPicPr preferRelativeResize="0"/>
          <p:nvPr/>
        </p:nvPicPr>
        <p:blipFill rotWithShape="1">
          <a:blip r:embed="rId4">
            <a:alphaModFix/>
          </a:blip>
          <a:srcRect b="0" l="0" r="0" t="0"/>
          <a:stretch/>
        </p:blipFill>
        <p:spPr>
          <a:xfrm>
            <a:off x="527050" y="806450"/>
            <a:ext cx="3740150" cy="3530600"/>
          </a:xfrm>
          <a:prstGeom prst="rect">
            <a:avLst/>
          </a:prstGeom>
          <a:noFill/>
          <a:ln>
            <a:noFill/>
          </a:ln>
        </p:spPr>
      </p:pic>
      <p:sp>
        <p:nvSpPr>
          <p:cNvPr id="108" name="Google Shape;108;p3"/>
          <p:cNvSpPr txBox="1"/>
          <p:nvPr/>
        </p:nvSpPr>
        <p:spPr>
          <a:xfrm>
            <a:off x="412750" y="4192587"/>
            <a:ext cx="3219450" cy="2301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900"/>
              <a:buFont typeface="Calibri"/>
              <a:buNone/>
            </a:pPr>
            <a:r>
              <a:rPr b="0" i="0" lang="en-US" sz="900" u="sng">
                <a:solidFill>
                  <a:schemeClr val="dk1"/>
                </a:solidFill>
                <a:latin typeface="Calibri"/>
                <a:ea typeface="Calibri"/>
                <a:cs typeface="Calibri"/>
                <a:sym typeface="Calibri"/>
                <a:hlinkClick r:id="rId5">
                  <a:extLst>
                    <a:ext uri="{A12FA001-AC4F-418D-AE19-62706E023703}">
                      <ahyp:hlinkClr val="tx"/>
                    </a:ext>
                  </a:extLst>
                </a:hlinkClick>
              </a:rPr>
              <a:t>This Photo</a:t>
            </a:r>
            <a:r>
              <a:rPr b="0" i="0" lang="en-US" sz="900" u="none">
                <a:solidFill>
                  <a:schemeClr val="dk1"/>
                </a:solidFill>
                <a:latin typeface="Calibri"/>
                <a:ea typeface="Calibri"/>
                <a:cs typeface="Calibri"/>
                <a:sym typeface="Calibri"/>
              </a:rPr>
              <a:t>This Photo by Unknown Author is licensed under </a:t>
            </a:r>
            <a:r>
              <a:rPr b="0" i="0" lang="en-US" sz="900" u="sng">
                <a:solidFill>
                  <a:schemeClr val="dk1"/>
                </a:solidFill>
                <a:latin typeface="Calibri"/>
                <a:ea typeface="Calibri"/>
                <a:cs typeface="Calibri"/>
                <a:sym typeface="Calibri"/>
                <a:hlinkClick r:id="rId6">
                  <a:extLst>
                    <a:ext uri="{A12FA001-AC4F-418D-AE19-62706E023703}">
                      <ahyp:hlinkClr val="tx"/>
                    </a:ext>
                  </a:extLst>
                </a:hlinkClick>
              </a:rPr>
              <a:t>CC BY-SA</a:t>
            </a:r>
            <a:endParaRPr/>
          </a:p>
        </p:txBody>
      </p:sp>
      <p:sp>
        <p:nvSpPr>
          <p:cNvPr id="109" name="Google Shape;109;p3"/>
          <p:cNvSpPr txBox="1"/>
          <p:nvPr>
            <p:ph idx="4294967295" type="title"/>
          </p:nvPr>
        </p:nvSpPr>
        <p:spPr>
          <a:xfrm>
            <a:off x="628650" y="192087"/>
            <a:ext cx="7886700" cy="52863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EE282A"/>
              </a:buClr>
              <a:buSzPts val="2400"/>
              <a:buFont typeface="Arial"/>
              <a:buNone/>
            </a:pPr>
            <a:r>
              <a:rPr b="0" i="0" lang="en-US" sz="2400" u="none" cap="none" strike="noStrike">
                <a:solidFill>
                  <a:srgbClr val="EE282A"/>
                </a:solidFill>
                <a:latin typeface="Arial"/>
                <a:ea typeface="Arial"/>
                <a:cs typeface="Arial"/>
                <a:sym typeface="Arial"/>
              </a:rPr>
              <a:t>For End Users - non-GIS/non-technical individuals…</a:t>
            </a:r>
            <a:endParaRPr/>
          </a:p>
        </p:txBody>
      </p:sp>
      <p:pic>
        <p:nvPicPr>
          <p:cNvPr descr="Complicated Cartoons and Comics - funny pictures from CartoonStock" id="110" name="Google Shape;110;p3"/>
          <p:cNvPicPr preferRelativeResize="0"/>
          <p:nvPr/>
        </p:nvPicPr>
        <p:blipFill rotWithShape="1">
          <a:blip r:embed="rId7">
            <a:alphaModFix/>
          </a:blip>
          <a:srcRect b="0" l="0" r="0" t="0"/>
          <a:stretch/>
        </p:blipFill>
        <p:spPr>
          <a:xfrm>
            <a:off x="2667000" y="2254250"/>
            <a:ext cx="1714500" cy="1714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4"/>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17" name="Google Shape;117;p4"/>
          <p:cNvSpPr txBox="1"/>
          <p:nvPr/>
        </p:nvSpPr>
        <p:spPr>
          <a:xfrm>
            <a:off x="4454525" y="890587"/>
            <a:ext cx="4502150" cy="25225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The questions we must ask are…</a:t>
            </a:r>
            <a:endParaRPr/>
          </a:p>
          <a:p>
            <a:pPr indent="0" lvl="0" marL="0" marR="0" rtl="0" algn="l">
              <a:lnSpc>
                <a:spcPct val="100000"/>
              </a:lnSpc>
              <a:spcBef>
                <a:spcPts val="0"/>
              </a:spcBef>
              <a:spcAft>
                <a:spcPts val="0"/>
              </a:spcAft>
              <a:buClr>
                <a:schemeClr val="dk1"/>
              </a:buClr>
              <a:buSzPts val="1600"/>
              <a:buFont typeface="Calibri"/>
              <a:buNone/>
            </a:pPr>
            <a:r>
              <a:t/>
            </a:r>
            <a:endParaRPr b="0" i="0" sz="1600" u="none">
              <a:solidFill>
                <a:schemeClr val="dk1"/>
              </a:solidFill>
              <a:latin typeface="Arial"/>
              <a:ea typeface="Arial"/>
              <a:cs typeface="Arial"/>
              <a:sym typeface="Arial"/>
            </a:endParaRPr>
          </a:p>
          <a:p>
            <a:pPr indent="-101600" lvl="0" marL="0" marR="0" rtl="0" algn="l">
              <a:lnSpc>
                <a:spcPct val="100000"/>
              </a:lnSpc>
              <a:spcBef>
                <a:spcPts val="0"/>
              </a:spcBef>
              <a:spcAft>
                <a:spcPts val="0"/>
              </a:spcAft>
              <a:buClr>
                <a:schemeClr val="dk1"/>
              </a:buClr>
              <a:buSzPts val="1600"/>
              <a:buFont typeface="Arial"/>
              <a:buChar char="•"/>
            </a:pPr>
            <a:r>
              <a:rPr b="0" i="0" lang="en-US" sz="1600" u="none">
                <a:solidFill>
                  <a:schemeClr val="dk1"/>
                </a:solidFill>
                <a:latin typeface="Arial"/>
                <a:ea typeface="Arial"/>
                <a:cs typeface="Arial"/>
                <a:sym typeface="Arial"/>
              </a:rPr>
              <a:t>No/Low Code?</a:t>
            </a:r>
            <a:endParaRPr/>
          </a:p>
          <a:p>
            <a:pPr indent="0" lvl="0" marL="0" marR="0" rtl="0" algn="l">
              <a:lnSpc>
                <a:spcPct val="100000"/>
              </a:lnSpc>
              <a:spcBef>
                <a:spcPts val="0"/>
              </a:spcBef>
              <a:spcAft>
                <a:spcPts val="0"/>
              </a:spcAft>
              <a:buClr>
                <a:schemeClr val="dk1"/>
              </a:buClr>
              <a:buSzPts val="1600"/>
              <a:buFont typeface="Calibri"/>
              <a:buNone/>
            </a:pPr>
            <a:r>
              <a:t/>
            </a:r>
            <a:endParaRPr b="0" i="0" sz="1600" u="none">
              <a:solidFill>
                <a:schemeClr val="dk1"/>
              </a:solidFill>
              <a:latin typeface="Arial"/>
              <a:ea typeface="Arial"/>
              <a:cs typeface="Arial"/>
              <a:sym typeface="Arial"/>
            </a:endParaRPr>
          </a:p>
          <a:p>
            <a:pPr indent="-101600" lvl="0" marL="0" marR="0" rtl="0" algn="l">
              <a:lnSpc>
                <a:spcPct val="100000"/>
              </a:lnSpc>
              <a:spcBef>
                <a:spcPts val="0"/>
              </a:spcBef>
              <a:spcAft>
                <a:spcPts val="0"/>
              </a:spcAft>
              <a:buClr>
                <a:schemeClr val="dk1"/>
              </a:buClr>
              <a:buSzPts val="1600"/>
              <a:buFont typeface="Arial"/>
              <a:buChar char="•"/>
            </a:pPr>
            <a:r>
              <a:rPr b="0" i="0" lang="en-US" sz="1600" u="none">
                <a:solidFill>
                  <a:schemeClr val="dk1"/>
                </a:solidFill>
                <a:latin typeface="Arial"/>
                <a:ea typeface="Arial"/>
                <a:cs typeface="Arial"/>
                <a:sym typeface="Arial"/>
              </a:rPr>
              <a:t>content management system?</a:t>
            </a:r>
            <a:br>
              <a:rPr b="0" i="0" lang="en-US" sz="1600" u="none">
                <a:solidFill>
                  <a:schemeClr val="dk1"/>
                </a:solidFill>
                <a:latin typeface="Arial"/>
                <a:ea typeface="Arial"/>
                <a:cs typeface="Arial"/>
                <a:sym typeface="Arial"/>
              </a:rPr>
            </a:br>
            <a:endParaRPr/>
          </a:p>
          <a:p>
            <a:pPr indent="-101600" lvl="0" marL="0" marR="0" rtl="0" algn="l">
              <a:lnSpc>
                <a:spcPct val="100000"/>
              </a:lnSpc>
              <a:spcBef>
                <a:spcPts val="0"/>
              </a:spcBef>
              <a:spcAft>
                <a:spcPts val="0"/>
              </a:spcAft>
              <a:buClr>
                <a:schemeClr val="dk1"/>
              </a:buClr>
              <a:buSzPts val="1600"/>
              <a:buFont typeface="Arial"/>
              <a:buChar char="•"/>
            </a:pPr>
            <a:r>
              <a:rPr b="0" i="0" lang="en-US" sz="1600" u="none">
                <a:solidFill>
                  <a:schemeClr val="dk1"/>
                </a:solidFill>
                <a:latin typeface="Arial"/>
                <a:ea typeface="Arial"/>
                <a:cs typeface="Arial"/>
                <a:sym typeface="Arial"/>
              </a:rPr>
              <a:t>mobile devices, off-line and online?</a:t>
            </a:r>
            <a:br>
              <a:rPr b="0" i="0" lang="en-US" sz="1600" u="none">
                <a:solidFill>
                  <a:schemeClr val="dk1"/>
                </a:solidFill>
                <a:latin typeface="Arial"/>
                <a:ea typeface="Arial"/>
                <a:cs typeface="Arial"/>
                <a:sym typeface="Arial"/>
              </a:rPr>
            </a:br>
            <a:endParaRPr/>
          </a:p>
          <a:p>
            <a:pPr indent="-101600" lvl="0" marL="0" marR="0" rtl="0" algn="l">
              <a:lnSpc>
                <a:spcPct val="100000"/>
              </a:lnSpc>
              <a:spcBef>
                <a:spcPts val="0"/>
              </a:spcBef>
              <a:spcAft>
                <a:spcPts val="0"/>
              </a:spcAft>
              <a:buClr>
                <a:schemeClr val="dk1"/>
              </a:buClr>
              <a:buSzPts val="1600"/>
              <a:buFont typeface="Arial"/>
              <a:buChar char="•"/>
            </a:pPr>
            <a:r>
              <a:rPr b="0" i="0" lang="en-US" sz="1600" u="none">
                <a:solidFill>
                  <a:schemeClr val="dk1"/>
                </a:solidFill>
                <a:latin typeface="Arial"/>
                <a:ea typeface="Arial"/>
                <a:cs typeface="Arial"/>
                <a:sym typeface="Arial"/>
              </a:rPr>
              <a:t>non-technical and technical?</a:t>
            </a:r>
            <a:endParaRPr/>
          </a:p>
          <a:p>
            <a:pPr indent="0" lvl="0" marL="0" marR="0" rtl="0" algn="l">
              <a:lnSpc>
                <a:spcPct val="100000"/>
              </a:lnSpc>
              <a:spcBef>
                <a:spcPts val="0"/>
              </a:spcBef>
              <a:spcAft>
                <a:spcPts val="0"/>
              </a:spcAft>
              <a:buNone/>
            </a:pPr>
            <a:r>
              <a:t/>
            </a:r>
            <a:endParaRPr b="0" i="0" sz="1600" u="none">
              <a:solidFill>
                <a:schemeClr val="dk1"/>
              </a:solidFill>
              <a:latin typeface="Arial"/>
              <a:ea typeface="Arial"/>
              <a:cs typeface="Arial"/>
              <a:sym typeface="Arial"/>
            </a:endParaRPr>
          </a:p>
        </p:txBody>
      </p:sp>
      <p:sp>
        <p:nvSpPr>
          <p:cNvPr id="118" name="Google Shape;118;p4"/>
          <p:cNvSpPr txBox="1"/>
          <p:nvPr/>
        </p:nvSpPr>
        <p:spPr>
          <a:xfrm>
            <a:off x="412750" y="4192587"/>
            <a:ext cx="3219450" cy="2301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900"/>
              <a:buFont typeface="Calibri"/>
              <a:buNone/>
            </a:pPr>
            <a:r>
              <a:rPr b="0" i="0" lang="en-US" sz="900" u="sng">
                <a:solidFill>
                  <a:schemeClr val="dk1"/>
                </a:solidFill>
                <a:latin typeface="Calibri"/>
                <a:ea typeface="Calibri"/>
                <a:cs typeface="Calibri"/>
                <a:sym typeface="Calibri"/>
                <a:hlinkClick r:id="rId4">
                  <a:extLst>
                    <a:ext uri="{A12FA001-AC4F-418D-AE19-62706E023703}">
                      <ahyp:hlinkClr val="tx"/>
                    </a:ext>
                  </a:extLst>
                </a:hlinkClick>
              </a:rPr>
              <a:t>This Photo</a:t>
            </a:r>
            <a:r>
              <a:rPr b="0" i="0" lang="en-US" sz="900" u="none">
                <a:solidFill>
                  <a:schemeClr val="dk1"/>
                </a:solidFill>
                <a:latin typeface="Calibri"/>
                <a:ea typeface="Calibri"/>
                <a:cs typeface="Calibri"/>
                <a:sym typeface="Calibri"/>
              </a:rPr>
              <a:t>This Photo by Unknown Author is licensed under </a:t>
            </a:r>
            <a:r>
              <a:rPr b="0" i="0" lang="en-US" sz="900" u="sng">
                <a:solidFill>
                  <a:schemeClr val="dk1"/>
                </a:solidFill>
                <a:latin typeface="Calibri"/>
                <a:ea typeface="Calibri"/>
                <a:cs typeface="Calibri"/>
                <a:sym typeface="Calibri"/>
                <a:hlinkClick r:id="rId5">
                  <a:extLst>
                    <a:ext uri="{A12FA001-AC4F-418D-AE19-62706E023703}">
                      <ahyp:hlinkClr val="tx"/>
                    </a:ext>
                  </a:extLst>
                </a:hlinkClick>
              </a:rPr>
              <a:t>CC BY-SA</a:t>
            </a:r>
            <a:endParaRPr/>
          </a:p>
        </p:txBody>
      </p:sp>
      <p:sp>
        <p:nvSpPr>
          <p:cNvPr id="119" name="Google Shape;119;p4"/>
          <p:cNvSpPr txBox="1"/>
          <p:nvPr>
            <p:ph idx="4294967295" type="title"/>
          </p:nvPr>
        </p:nvSpPr>
        <p:spPr>
          <a:xfrm>
            <a:off x="628650" y="192087"/>
            <a:ext cx="7886700" cy="52863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EE282A"/>
              </a:buClr>
              <a:buSzPts val="2400"/>
              <a:buFont typeface="Arial"/>
              <a:buNone/>
            </a:pPr>
            <a:r>
              <a:rPr b="0" i="0" lang="en-US" sz="2400" u="none" cap="none" strike="noStrike">
                <a:solidFill>
                  <a:srgbClr val="EE282A"/>
                </a:solidFill>
                <a:latin typeface="Arial"/>
                <a:ea typeface="Arial"/>
                <a:cs typeface="Arial"/>
                <a:sym typeface="Arial"/>
              </a:rPr>
              <a:t>For administrators…</a:t>
            </a:r>
            <a:endParaRPr/>
          </a:p>
        </p:txBody>
      </p:sp>
      <p:pic>
        <p:nvPicPr>
          <p:cNvPr descr="Technological Advances Cartoons and Comics - funny pictures from  CartoonStock" id="120" name="Google Shape;120;p4"/>
          <p:cNvPicPr preferRelativeResize="0"/>
          <p:nvPr/>
        </p:nvPicPr>
        <p:blipFill rotWithShape="1">
          <a:blip r:embed="rId6">
            <a:alphaModFix/>
          </a:blip>
          <a:srcRect b="0" l="0" r="0" t="0"/>
          <a:stretch/>
        </p:blipFill>
        <p:spPr>
          <a:xfrm>
            <a:off x="101600" y="720725"/>
            <a:ext cx="4165600" cy="322738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p5"/>
          <p:cNvPicPr preferRelativeResize="0"/>
          <p:nvPr/>
        </p:nvPicPr>
        <p:blipFill rotWithShape="1">
          <a:blip r:embed="rId3">
            <a:alphaModFix/>
          </a:blip>
          <a:srcRect b="0" l="0" r="0" t="0"/>
          <a:stretch/>
        </p:blipFill>
        <p:spPr>
          <a:xfrm>
            <a:off x="-14287" y="4762"/>
            <a:ext cx="9144000" cy="5143500"/>
          </a:xfrm>
          <a:prstGeom prst="rect">
            <a:avLst/>
          </a:prstGeom>
          <a:noFill/>
          <a:ln>
            <a:noFill/>
          </a:ln>
        </p:spPr>
      </p:pic>
      <p:sp>
        <p:nvSpPr>
          <p:cNvPr id="127" name="Google Shape;127;p5"/>
          <p:cNvSpPr txBox="1"/>
          <p:nvPr/>
        </p:nvSpPr>
        <p:spPr>
          <a:xfrm>
            <a:off x="6578600" y="933450"/>
            <a:ext cx="2425700" cy="4000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Is it…</a:t>
            </a:r>
            <a:endParaRPr/>
          </a:p>
          <a:p>
            <a:pPr indent="0" lvl="0" marL="0" marR="0" rtl="0" algn="l">
              <a:lnSpc>
                <a:spcPct val="100000"/>
              </a:lnSpc>
              <a:spcBef>
                <a:spcPts val="0"/>
              </a:spcBef>
              <a:spcAft>
                <a:spcPts val="0"/>
              </a:spcAft>
              <a:buClr>
                <a:schemeClr val="dk1"/>
              </a:buClr>
              <a:buSzPts val="1600"/>
              <a:buFont typeface="Calibri"/>
              <a:buNone/>
            </a:pPr>
            <a:r>
              <a:t/>
            </a:r>
            <a:endParaRPr b="1" i="0" sz="1600" u="none">
              <a:solidFill>
                <a:schemeClr val="dk1"/>
              </a:solidFill>
              <a:latin typeface="Arial"/>
              <a:ea typeface="Arial"/>
              <a:cs typeface="Arial"/>
              <a:sym typeface="Arial"/>
            </a:endParaRPr>
          </a:p>
          <a:p>
            <a:pPr indent="-101600" lvl="0" marL="0" marR="0" rtl="0" algn="l">
              <a:lnSpc>
                <a:spcPct val="100000"/>
              </a:lnSpc>
              <a:spcBef>
                <a:spcPts val="0"/>
              </a:spcBef>
              <a:spcAft>
                <a:spcPts val="0"/>
              </a:spcAft>
              <a:buClr>
                <a:schemeClr val="dk1"/>
              </a:buClr>
              <a:buSzPts val="1600"/>
              <a:buFont typeface="Arial"/>
              <a:buChar char="•"/>
            </a:pPr>
            <a:r>
              <a:rPr b="0" i="0" lang="en-US" sz="1600" u="none">
                <a:solidFill>
                  <a:schemeClr val="dk1"/>
                </a:solidFill>
                <a:latin typeface="Arial"/>
                <a:ea typeface="Arial"/>
                <a:cs typeface="Arial"/>
                <a:sym typeface="Arial"/>
              </a:rPr>
              <a:t>Complex?</a:t>
            </a:r>
            <a:endParaRPr/>
          </a:p>
          <a:p>
            <a:pPr indent="0" lvl="0" marL="0" marR="0" rtl="0" algn="l">
              <a:lnSpc>
                <a:spcPct val="100000"/>
              </a:lnSpc>
              <a:spcBef>
                <a:spcPts val="0"/>
              </a:spcBef>
              <a:spcAft>
                <a:spcPts val="0"/>
              </a:spcAft>
              <a:buClr>
                <a:schemeClr val="dk1"/>
              </a:buClr>
              <a:buSzPts val="1100"/>
              <a:buFont typeface="Arial"/>
              <a:buNone/>
            </a:pPr>
            <a:r>
              <a:t/>
            </a:r>
            <a:endParaRPr b="0" i="0" sz="1100" u="none">
              <a:solidFill>
                <a:schemeClr val="dk1"/>
              </a:solidFill>
              <a:latin typeface="Arial"/>
              <a:ea typeface="Arial"/>
              <a:cs typeface="Arial"/>
              <a:sym typeface="Arial"/>
            </a:endParaRPr>
          </a:p>
          <a:p>
            <a:pPr indent="-101600" lvl="0" marL="0" marR="0" rtl="0" algn="l">
              <a:lnSpc>
                <a:spcPct val="100000"/>
              </a:lnSpc>
              <a:spcBef>
                <a:spcPts val="0"/>
              </a:spcBef>
              <a:spcAft>
                <a:spcPts val="0"/>
              </a:spcAft>
              <a:buClr>
                <a:schemeClr val="dk1"/>
              </a:buClr>
              <a:buSzPts val="1600"/>
              <a:buFont typeface="Arial"/>
              <a:buChar char="•"/>
            </a:pPr>
            <a:r>
              <a:rPr b="0" i="0" lang="en-US" sz="1600" u="none">
                <a:solidFill>
                  <a:schemeClr val="dk1"/>
                </a:solidFill>
                <a:latin typeface="Arial"/>
                <a:ea typeface="Arial"/>
                <a:cs typeface="Arial"/>
                <a:sym typeface="Arial"/>
              </a:rPr>
              <a:t>Many options?</a:t>
            </a:r>
            <a:endParaRPr/>
          </a:p>
          <a:p>
            <a:pPr indent="0" lvl="0" marL="0" marR="0" rtl="0" algn="l">
              <a:lnSpc>
                <a:spcPct val="100000"/>
              </a:lnSpc>
              <a:spcBef>
                <a:spcPts val="0"/>
              </a:spcBef>
              <a:spcAft>
                <a:spcPts val="0"/>
              </a:spcAft>
              <a:buClr>
                <a:schemeClr val="dk1"/>
              </a:buClr>
              <a:buSzPts val="1100"/>
              <a:buFont typeface="Arial"/>
              <a:buNone/>
            </a:pPr>
            <a:r>
              <a:t/>
            </a:r>
            <a:endParaRPr b="0" i="0" sz="1100" u="none">
              <a:solidFill>
                <a:schemeClr val="dk1"/>
              </a:solidFill>
              <a:latin typeface="Arial"/>
              <a:ea typeface="Arial"/>
              <a:cs typeface="Arial"/>
              <a:sym typeface="Arial"/>
            </a:endParaRPr>
          </a:p>
          <a:p>
            <a:pPr indent="-101600" lvl="0" marL="0" marR="0" rtl="0" algn="l">
              <a:lnSpc>
                <a:spcPct val="100000"/>
              </a:lnSpc>
              <a:spcBef>
                <a:spcPts val="0"/>
              </a:spcBef>
              <a:spcAft>
                <a:spcPts val="0"/>
              </a:spcAft>
              <a:buClr>
                <a:schemeClr val="dk1"/>
              </a:buClr>
              <a:buSzPts val="1600"/>
              <a:buFont typeface="Arial"/>
              <a:buChar char="•"/>
            </a:pPr>
            <a:r>
              <a:rPr b="0" i="0" lang="en-US" sz="1600" u="none">
                <a:solidFill>
                  <a:schemeClr val="dk1"/>
                </a:solidFill>
                <a:latin typeface="Arial"/>
                <a:ea typeface="Arial"/>
                <a:cs typeface="Arial"/>
                <a:sym typeface="Arial"/>
              </a:rPr>
              <a:t>Many steps?</a:t>
            </a:r>
            <a:endParaRPr/>
          </a:p>
          <a:p>
            <a:pPr indent="0" lvl="0" marL="0" marR="0" rtl="0" algn="l">
              <a:lnSpc>
                <a:spcPct val="10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101600" lvl="0" marL="0" marR="0" rtl="0" algn="l">
              <a:lnSpc>
                <a:spcPct val="100000"/>
              </a:lnSpc>
              <a:spcBef>
                <a:spcPts val="0"/>
              </a:spcBef>
              <a:spcAft>
                <a:spcPts val="0"/>
              </a:spcAft>
              <a:buClr>
                <a:schemeClr val="dk1"/>
              </a:buClr>
              <a:buSzPts val="1600"/>
              <a:buFont typeface="Arial"/>
              <a:buChar char="•"/>
            </a:pPr>
            <a:r>
              <a:rPr b="0" i="0" lang="en-US" sz="1600" u="none">
                <a:solidFill>
                  <a:schemeClr val="dk1"/>
                </a:solidFill>
                <a:latin typeface="Arial"/>
                <a:ea typeface="Arial"/>
                <a:cs typeface="Arial"/>
                <a:sym typeface="Arial"/>
              </a:rPr>
              <a:t>Functional and adaptive?</a:t>
            </a:r>
            <a:endParaRPr/>
          </a:p>
          <a:p>
            <a:pPr indent="0" lvl="0" marL="0" marR="0" rtl="0" algn="l">
              <a:lnSpc>
                <a:spcPct val="100000"/>
              </a:lnSpc>
              <a:spcBef>
                <a:spcPts val="0"/>
              </a:spcBef>
              <a:spcAft>
                <a:spcPts val="0"/>
              </a:spcAft>
              <a:buClr>
                <a:schemeClr val="dk1"/>
              </a:buClr>
              <a:buSzPts val="1300"/>
              <a:buFont typeface="Calibri"/>
              <a:buNone/>
            </a:pPr>
            <a:r>
              <a:t/>
            </a:r>
            <a:endParaRPr b="0" i="0" sz="1300" u="non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Calibri"/>
              <a:buNone/>
            </a:pPr>
            <a:r>
              <a:t/>
            </a:r>
            <a:endParaRPr b="0" i="0" sz="1300" u="non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Calibri"/>
              <a:buNone/>
            </a:pPr>
            <a:r>
              <a:t/>
            </a:r>
            <a:endParaRPr b="0" i="0" sz="1300" u="non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Calibri"/>
              <a:buNone/>
            </a:pPr>
            <a:r>
              <a:t/>
            </a:r>
            <a:endParaRPr b="0" i="0" sz="1300" u="non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Calibri"/>
              <a:buNone/>
            </a:pPr>
            <a:r>
              <a:t/>
            </a:r>
            <a:endParaRPr b="0" i="0" sz="1300" u="non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Calibri"/>
              <a:buNone/>
            </a:pPr>
            <a:r>
              <a:t/>
            </a:r>
            <a:endParaRPr b="0" i="0" sz="1300" u="non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Arial"/>
              <a:buNone/>
            </a:pPr>
            <a:r>
              <a:rPr b="0" i="1" lang="en-US" sz="1300" u="none">
                <a:solidFill>
                  <a:schemeClr val="dk1"/>
                </a:solidFill>
                <a:latin typeface="Arial"/>
                <a:ea typeface="Arial"/>
                <a:cs typeface="Arial"/>
                <a:sym typeface="Arial"/>
              </a:rPr>
              <a:t>This is not significantly different in commercial GIS software</a:t>
            </a:r>
            <a:endParaRPr/>
          </a:p>
        </p:txBody>
      </p:sp>
      <p:pic>
        <p:nvPicPr>
          <p:cNvPr id="128" name="Google Shape;128;p5"/>
          <p:cNvPicPr preferRelativeResize="0"/>
          <p:nvPr/>
        </p:nvPicPr>
        <p:blipFill rotWithShape="1">
          <a:blip r:embed="rId4">
            <a:alphaModFix/>
          </a:blip>
          <a:srcRect b="0" l="0" r="0" t="0"/>
          <a:stretch/>
        </p:blipFill>
        <p:spPr>
          <a:xfrm>
            <a:off x="307975" y="833437"/>
            <a:ext cx="6088062" cy="3708400"/>
          </a:xfrm>
          <a:prstGeom prst="rect">
            <a:avLst/>
          </a:prstGeom>
          <a:noFill/>
          <a:ln>
            <a:noFill/>
          </a:ln>
        </p:spPr>
      </p:pic>
      <p:sp>
        <p:nvSpPr>
          <p:cNvPr id="129" name="Google Shape;129;p5"/>
          <p:cNvSpPr txBox="1"/>
          <p:nvPr>
            <p:ph idx="4294967295" type="title"/>
          </p:nvPr>
        </p:nvSpPr>
        <p:spPr>
          <a:xfrm>
            <a:off x="2192337" y="82550"/>
            <a:ext cx="6243637" cy="47625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Standard – For Naive End Users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p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36" name="Google Shape;136;p6"/>
          <p:cNvSpPr txBox="1"/>
          <p:nvPr/>
        </p:nvSpPr>
        <p:spPr>
          <a:xfrm>
            <a:off x="6578600" y="933450"/>
            <a:ext cx="2425700" cy="389413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300"/>
              <a:buFont typeface="Arial"/>
              <a:buChar char="•"/>
            </a:pPr>
            <a:r>
              <a:rPr b="0" i="0" lang="en-US" sz="1300" u="none">
                <a:solidFill>
                  <a:schemeClr val="dk1"/>
                </a:solidFill>
                <a:latin typeface="Arial"/>
                <a:ea typeface="Arial"/>
                <a:cs typeface="Arial"/>
                <a:sym typeface="Arial"/>
              </a:rPr>
              <a:t>Simple choice of experience</a:t>
            </a:r>
            <a:endParaRPr/>
          </a:p>
          <a:p>
            <a:pPr indent="-203200" lvl="0" marL="285750" marR="0" rtl="0" algn="l">
              <a:lnSpc>
                <a:spcPct val="100000"/>
              </a:lnSpc>
              <a:spcBef>
                <a:spcPts val="0"/>
              </a:spcBef>
              <a:spcAft>
                <a:spcPts val="0"/>
              </a:spcAft>
              <a:buClr>
                <a:schemeClr val="dk1"/>
              </a:buClr>
              <a:buSzPts val="1300"/>
              <a:buFont typeface="Arial"/>
              <a:buNone/>
            </a:pPr>
            <a:r>
              <a:t/>
            </a:r>
            <a:endParaRPr b="0" i="0" sz="1300" u="non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300"/>
              <a:buFont typeface="Arial"/>
              <a:buChar char="•"/>
            </a:pPr>
            <a:r>
              <a:rPr b="0" i="0" lang="en-US" sz="1300" u="none">
                <a:solidFill>
                  <a:schemeClr val="dk1"/>
                </a:solidFill>
                <a:latin typeface="Arial"/>
                <a:ea typeface="Arial"/>
                <a:cs typeface="Arial"/>
                <a:sym typeface="Arial"/>
              </a:rPr>
              <a:t>Load a standard map</a:t>
            </a:r>
            <a:endParaRPr/>
          </a:p>
          <a:p>
            <a:pPr indent="-203200" lvl="0" marL="285750" marR="0" rtl="0" algn="l">
              <a:lnSpc>
                <a:spcPct val="100000"/>
              </a:lnSpc>
              <a:spcBef>
                <a:spcPts val="0"/>
              </a:spcBef>
              <a:spcAft>
                <a:spcPts val="0"/>
              </a:spcAft>
              <a:buClr>
                <a:schemeClr val="dk1"/>
              </a:buClr>
              <a:buSzPts val="1300"/>
              <a:buFont typeface="Arial"/>
              <a:buNone/>
            </a:pPr>
            <a:r>
              <a:t/>
            </a:r>
            <a:endParaRPr b="0" i="0" sz="1300" u="non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300"/>
              <a:buFont typeface="Arial"/>
              <a:buChar char="•"/>
            </a:pPr>
            <a:r>
              <a:rPr b="0" i="0" lang="en-US" sz="1300" u="none">
                <a:solidFill>
                  <a:schemeClr val="dk1"/>
                </a:solidFill>
                <a:latin typeface="Arial"/>
                <a:ea typeface="Arial"/>
                <a:cs typeface="Arial"/>
                <a:sym typeface="Arial"/>
              </a:rPr>
              <a:t>Add menus for Imagery, Projects, Assets etc that load groups of layers</a:t>
            </a:r>
            <a:endParaRPr/>
          </a:p>
          <a:p>
            <a:pPr indent="-203200" lvl="0" marL="285750" marR="0" rtl="0" algn="l">
              <a:lnSpc>
                <a:spcPct val="100000"/>
              </a:lnSpc>
              <a:spcBef>
                <a:spcPts val="0"/>
              </a:spcBef>
              <a:spcAft>
                <a:spcPts val="0"/>
              </a:spcAft>
              <a:buClr>
                <a:schemeClr val="dk1"/>
              </a:buClr>
              <a:buSzPts val="1300"/>
              <a:buFont typeface="Arial"/>
              <a:buNone/>
            </a:pPr>
            <a:r>
              <a:t/>
            </a:r>
            <a:endParaRPr b="0" i="0" sz="1300" u="non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300"/>
              <a:buFont typeface="Arial"/>
              <a:buChar char="•"/>
            </a:pPr>
            <a:r>
              <a:rPr b="0" i="0" lang="en-US" sz="1300" u="none">
                <a:solidFill>
                  <a:schemeClr val="dk1"/>
                </a:solidFill>
                <a:latin typeface="Arial"/>
                <a:ea typeface="Arial"/>
                <a:cs typeface="Arial"/>
                <a:sym typeface="Arial"/>
              </a:rPr>
              <a:t>Simplify closing opened layers</a:t>
            </a:r>
            <a:endParaRPr/>
          </a:p>
          <a:p>
            <a:pPr indent="-285750" lvl="0" marL="285750" marR="0" rtl="0" algn="l">
              <a:lnSpc>
                <a:spcPct val="100000"/>
              </a:lnSpc>
              <a:spcBef>
                <a:spcPts val="0"/>
              </a:spcBef>
              <a:spcAft>
                <a:spcPts val="0"/>
              </a:spcAft>
              <a:buClr>
                <a:schemeClr val="dk1"/>
              </a:buClr>
              <a:buSzPts val="1300"/>
              <a:buFont typeface="Calibri"/>
              <a:buNone/>
            </a:pPr>
            <a:r>
              <a:t/>
            </a:r>
            <a:endParaRPr b="0" i="0" sz="1300" u="non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300"/>
              <a:buFont typeface="Calibri"/>
              <a:buNone/>
            </a:pPr>
            <a:r>
              <a:t/>
            </a:r>
            <a:endParaRPr b="0" i="0" sz="1300" u="non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300"/>
              <a:buFont typeface="Calibri"/>
              <a:buNone/>
            </a:pPr>
            <a:r>
              <a:t/>
            </a:r>
            <a:endParaRPr b="0" i="0" sz="1300" u="non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300"/>
              <a:buFont typeface="Calibri"/>
              <a:buNone/>
            </a:pPr>
            <a:r>
              <a:t/>
            </a:r>
            <a:endParaRPr b="0" i="0" sz="1300" u="non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300"/>
              <a:buFont typeface="Calibri"/>
              <a:buNone/>
            </a:pPr>
            <a:r>
              <a:t/>
            </a:r>
            <a:endParaRPr b="0" i="0" sz="1300" u="non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300"/>
              <a:buFont typeface="Calibri"/>
              <a:buNone/>
            </a:pPr>
            <a:r>
              <a:t/>
            </a:r>
            <a:endParaRPr b="0" i="0" sz="1300" u="non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300"/>
              <a:buFont typeface="Calibri"/>
              <a:buNone/>
            </a:pPr>
            <a:r>
              <a:t/>
            </a:r>
            <a:endParaRPr b="0" i="0" sz="1300" u="non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300"/>
              <a:buFont typeface="Arial"/>
              <a:buNone/>
            </a:pPr>
            <a:r>
              <a:rPr b="0" i="1" lang="en-US" sz="1300" u="none">
                <a:solidFill>
                  <a:schemeClr val="dk1"/>
                </a:solidFill>
                <a:latin typeface="Arial"/>
                <a:ea typeface="Arial"/>
                <a:cs typeface="Arial"/>
                <a:sym typeface="Arial"/>
              </a:rPr>
              <a:t>This is also available in MapInfo through our custom code base.</a:t>
            </a:r>
            <a:endParaRPr/>
          </a:p>
        </p:txBody>
      </p:sp>
      <p:pic>
        <p:nvPicPr>
          <p:cNvPr id="137" name="Google Shape;137;p6"/>
          <p:cNvPicPr preferRelativeResize="0"/>
          <p:nvPr/>
        </p:nvPicPr>
        <p:blipFill rotWithShape="1">
          <a:blip r:embed="rId4">
            <a:alphaModFix/>
          </a:blip>
          <a:srcRect b="0" l="0" r="0" t="0"/>
          <a:stretch/>
        </p:blipFill>
        <p:spPr>
          <a:xfrm>
            <a:off x="200025" y="754062"/>
            <a:ext cx="1897062" cy="979487"/>
          </a:xfrm>
          <a:prstGeom prst="rect">
            <a:avLst/>
          </a:prstGeom>
          <a:noFill/>
          <a:ln>
            <a:noFill/>
          </a:ln>
        </p:spPr>
      </p:pic>
      <p:pic>
        <p:nvPicPr>
          <p:cNvPr id="138" name="Google Shape;138;p6"/>
          <p:cNvPicPr preferRelativeResize="0"/>
          <p:nvPr/>
        </p:nvPicPr>
        <p:blipFill rotWithShape="1">
          <a:blip r:embed="rId5">
            <a:alphaModFix/>
          </a:blip>
          <a:srcRect b="0" l="0" r="0" t="187"/>
          <a:stretch/>
        </p:blipFill>
        <p:spPr>
          <a:xfrm>
            <a:off x="200025" y="1466850"/>
            <a:ext cx="5565775" cy="3384550"/>
          </a:xfrm>
          <a:prstGeom prst="rect">
            <a:avLst/>
          </a:prstGeom>
          <a:noFill/>
          <a:ln>
            <a:noFill/>
          </a:ln>
        </p:spPr>
      </p:pic>
      <p:sp>
        <p:nvSpPr>
          <p:cNvPr id="139" name="Google Shape;139;p6"/>
          <p:cNvSpPr txBox="1"/>
          <p:nvPr>
            <p:ph idx="4294967295" type="title"/>
          </p:nvPr>
        </p:nvSpPr>
        <p:spPr>
          <a:xfrm>
            <a:off x="2381250" y="0"/>
            <a:ext cx="6134100" cy="61753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0" i="0" lang="en-US" sz="2400" u="none" cap="none" strike="noStrike">
                <a:solidFill>
                  <a:schemeClr val="lt1"/>
                </a:solidFill>
                <a:latin typeface="Arial"/>
                <a:ea typeface="Arial"/>
                <a:cs typeface="Arial"/>
                <a:sym typeface="Arial"/>
              </a:rPr>
              <a:t>Custom QGIS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id="145" name="Google Shape;145;p7"/>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46" name="Google Shape;146;p7"/>
          <p:cNvSpPr txBox="1"/>
          <p:nvPr/>
        </p:nvSpPr>
        <p:spPr>
          <a:xfrm>
            <a:off x="6578600" y="727075"/>
            <a:ext cx="2425700" cy="429418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300"/>
              <a:buFont typeface="Arial"/>
              <a:buChar char="•"/>
            </a:pPr>
            <a:r>
              <a:rPr b="0" i="0" lang="en-US" sz="1300" u="none">
                <a:solidFill>
                  <a:schemeClr val="dk1"/>
                </a:solidFill>
                <a:latin typeface="Arial"/>
                <a:ea typeface="Arial"/>
                <a:cs typeface="Arial"/>
                <a:sym typeface="Arial"/>
              </a:rPr>
              <a:t>Choose predefined searches with results tailored to your needs.</a:t>
            </a:r>
            <a:endParaRPr/>
          </a:p>
          <a:p>
            <a:pPr indent="-203200" lvl="0" marL="285750" marR="0" rtl="0" algn="l">
              <a:lnSpc>
                <a:spcPct val="100000"/>
              </a:lnSpc>
              <a:spcBef>
                <a:spcPts val="0"/>
              </a:spcBef>
              <a:spcAft>
                <a:spcPts val="0"/>
              </a:spcAft>
              <a:buClr>
                <a:schemeClr val="dk1"/>
              </a:buClr>
              <a:buSzPts val="1300"/>
              <a:buFont typeface="Arial"/>
              <a:buNone/>
            </a:pPr>
            <a:r>
              <a:t/>
            </a:r>
            <a:endParaRPr b="0" i="0" sz="1300" u="non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300"/>
              <a:buFont typeface="Arial"/>
              <a:buChar char="•"/>
            </a:pPr>
            <a:r>
              <a:rPr b="0" i="0" lang="en-US" sz="1300" u="none">
                <a:solidFill>
                  <a:schemeClr val="dk1"/>
                </a:solidFill>
                <a:latin typeface="Arial"/>
                <a:ea typeface="Arial"/>
                <a:cs typeface="Arial"/>
                <a:sym typeface="Arial"/>
              </a:rPr>
              <a:t>Use autocomplete to start searching</a:t>
            </a:r>
            <a:endParaRPr/>
          </a:p>
          <a:p>
            <a:pPr indent="-203200" lvl="0" marL="285750" marR="0" rtl="0" algn="l">
              <a:lnSpc>
                <a:spcPct val="100000"/>
              </a:lnSpc>
              <a:spcBef>
                <a:spcPts val="0"/>
              </a:spcBef>
              <a:spcAft>
                <a:spcPts val="0"/>
              </a:spcAft>
              <a:buClr>
                <a:schemeClr val="dk1"/>
              </a:buClr>
              <a:buSzPts val="1300"/>
              <a:buFont typeface="Arial"/>
              <a:buNone/>
            </a:pPr>
            <a:r>
              <a:t/>
            </a:r>
            <a:endParaRPr b="0" i="0" sz="1300" u="non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300"/>
              <a:buFont typeface="Arial"/>
              <a:buChar char="•"/>
            </a:pPr>
            <a:r>
              <a:rPr b="0" i="0" lang="en-US" sz="1300" u="none">
                <a:solidFill>
                  <a:schemeClr val="dk1"/>
                </a:solidFill>
                <a:latin typeface="Arial"/>
                <a:ea typeface="Arial"/>
                <a:cs typeface="Arial"/>
                <a:sym typeface="Arial"/>
              </a:rPr>
              <a:t>Customise the search further if required setting the fields to inquire in and the comparison</a:t>
            </a:r>
            <a:endParaRPr/>
          </a:p>
          <a:p>
            <a:pPr indent="-203200" lvl="0" marL="285750" marR="0" rtl="0" algn="l">
              <a:lnSpc>
                <a:spcPct val="100000"/>
              </a:lnSpc>
              <a:spcBef>
                <a:spcPts val="0"/>
              </a:spcBef>
              <a:spcAft>
                <a:spcPts val="0"/>
              </a:spcAft>
              <a:buClr>
                <a:schemeClr val="dk1"/>
              </a:buClr>
              <a:buSzPts val="1300"/>
              <a:buFont typeface="Arial"/>
              <a:buNone/>
            </a:pPr>
            <a:r>
              <a:t/>
            </a:r>
            <a:endParaRPr b="0" i="0" sz="1300" u="non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300"/>
              <a:buFont typeface="Arial"/>
              <a:buChar char="•"/>
            </a:pPr>
            <a:r>
              <a:rPr b="0" i="0" lang="en-US" sz="1300" u="none">
                <a:solidFill>
                  <a:schemeClr val="dk1"/>
                </a:solidFill>
                <a:latin typeface="Arial"/>
                <a:ea typeface="Arial"/>
                <a:cs typeface="Arial"/>
                <a:sym typeface="Arial"/>
              </a:rPr>
              <a:t>Click on a result to zoom into the feature</a:t>
            </a:r>
            <a:endParaRPr/>
          </a:p>
          <a:p>
            <a:pPr indent="-203200" lvl="0" marL="285750" marR="0" rtl="0" algn="l">
              <a:lnSpc>
                <a:spcPct val="100000"/>
              </a:lnSpc>
              <a:spcBef>
                <a:spcPts val="0"/>
              </a:spcBef>
              <a:spcAft>
                <a:spcPts val="0"/>
              </a:spcAft>
              <a:buClr>
                <a:schemeClr val="dk1"/>
              </a:buClr>
              <a:buSzPts val="1300"/>
              <a:buFont typeface="Arial"/>
              <a:buNone/>
            </a:pPr>
            <a:r>
              <a:t/>
            </a:r>
            <a:endParaRPr b="0" i="0" sz="1300" u="non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300"/>
              <a:buFont typeface="Arial"/>
              <a:buChar char="•"/>
            </a:pPr>
            <a:r>
              <a:rPr b="0" i="0" lang="en-US" sz="1300" u="none">
                <a:solidFill>
                  <a:schemeClr val="dk1"/>
                </a:solidFill>
                <a:latin typeface="Arial"/>
                <a:ea typeface="Arial"/>
                <a:cs typeface="Arial"/>
                <a:sym typeface="Arial"/>
              </a:rPr>
              <a:t>Spatial (within, intersect) searches are being added</a:t>
            </a:r>
            <a:endParaRPr/>
          </a:p>
          <a:p>
            <a:pPr indent="-285750" lvl="0" marL="285750" marR="0" rtl="0" algn="l">
              <a:lnSpc>
                <a:spcPct val="100000"/>
              </a:lnSpc>
              <a:spcBef>
                <a:spcPts val="0"/>
              </a:spcBef>
              <a:spcAft>
                <a:spcPts val="0"/>
              </a:spcAft>
              <a:buClr>
                <a:schemeClr val="dk1"/>
              </a:buClr>
              <a:buSzPts val="1300"/>
              <a:buFont typeface="Calibri"/>
              <a:buNone/>
            </a:pPr>
            <a:r>
              <a:t/>
            </a:r>
            <a:endParaRPr b="0" i="0" sz="1300" u="non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300"/>
              <a:buFont typeface="Arial"/>
              <a:buNone/>
            </a:pPr>
            <a:r>
              <a:rPr b="0" i="1" lang="en-US" sz="1300" u="none">
                <a:solidFill>
                  <a:schemeClr val="dk1"/>
                </a:solidFill>
                <a:latin typeface="Arial"/>
                <a:ea typeface="Arial"/>
                <a:cs typeface="Arial"/>
                <a:sym typeface="Arial"/>
              </a:rPr>
              <a:t>Similar functionality is available in Mapinfo through our custom code base.</a:t>
            </a:r>
            <a:endParaRPr/>
          </a:p>
        </p:txBody>
      </p:sp>
      <p:pic>
        <p:nvPicPr>
          <p:cNvPr id="147" name="Google Shape;147;p7"/>
          <p:cNvPicPr preferRelativeResize="0"/>
          <p:nvPr/>
        </p:nvPicPr>
        <p:blipFill rotWithShape="1">
          <a:blip r:embed="rId4">
            <a:alphaModFix/>
          </a:blip>
          <a:srcRect b="0" l="0" r="0" t="0"/>
          <a:stretch/>
        </p:blipFill>
        <p:spPr>
          <a:xfrm>
            <a:off x="228600" y="933450"/>
            <a:ext cx="6121400" cy="3702050"/>
          </a:xfrm>
          <a:prstGeom prst="rect">
            <a:avLst/>
          </a:prstGeom>
          <a:noFill/>
          <a:ln>
            <a:noFill/>
          </a:ln>
        </p:spPr>
      </p:pic>
      <p:sp>
        <p:nvSpPr>
          <p:cNvPr id="148" name="Google Shape;148;p7"/>
          <p:cNvSpPr txBox="1"/>
          <p:nvPr>
            <p:ph idx="4294967295" type="title"/>
          </p:nvPr>
        </p:nvSpPr>
        <p:spPr>
          <a:xfrm>
            <a:off x="2317750" y="0"/>
            <a:ext cx="6826250" cy="60483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0" i="0" lang="en-US" sz="2400" u="none" cap="none" strike="noStrike">
                <a:solidFill>
                  <a:schemeClr val="lt1"/>
                </a:solidFill>
                <a:latin typeface="Arial"/>
                <a:ea typeface="Arial"/>
                <a:cs typeface="Arial"/>
                <a:sym typeface="Arial"/>
              </a:rPr>
              <a:t>Custom Search</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p8"/>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55" name="Google Shape;155;p8"/>
          <p:cNvSpPr txBox="1"/>
          <p:nvPr/>
        </p:nvSpPr>
        <p:spPr>
          <a:xfrm>
            <a:off x="6578600" y="933450"/>
            <a:ext cx="2425700" cy="1077912"/>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600"/>
              <a:buFont typeface="Arial"/>
              <a:buChar char="•"/>
            </a:pPr>
            <a:r>
              <a:rPr b="0" i="0" lang="en-US" sz="1600" u="none">
                <a:solidFill>
                  <a:schemeClr val="dk1"/>
                </a:solidFill>
                <a:latin typeface="Arial"/>
                <a:ea typeface="Arial"/>
                <a:cs typeface="Arial"/>
                <a:sym typeface="Arial"/>
              </a:rPr>
              <a:t>The open source plugin allows intuitive but powerful search options</a:t>
            </a:r>
            <a:endParaRPr/>
          </a:p>
        </p:txBody>
      </p:sp>
      <p:pic>
        <p:nvPicPr>
          <p:cNvPr id="156" name="Google Shape;156;p8"/>
          <p:cNvPicPr preferRelativeResize="0"/>
          <p:nvPr/>
        </p:nvPicPr>
        <p:blipFill rotWithShape="1">
          <a:blip r:embed="rId4">
            <a:alphaModFix/>
          </a:blip>
          <a:srcRect b="0" l="0" r="0" t="0"/>
          <a:stretch/>
        </p:blipFill>
        <p:spPr>
          <a:xfrm>
            <a:off x="196850" y="1073150"/>
            <a:ext cx="6186487" cy="3584575"/>
          </a:xfrm>
          <a:prstGeom prst="rect">
            <a:avLst/>
          </a:prstGeom>
          <a:noFill/>
          <a:ln>
            <a:noFill/>
          </a:ln>
        </p:spPr>
      </p:pic>
      <p:sp>
        <p:nvSpPr>
          <p:cNvPr id="157" name="Google Shape;157;p8"/>
          <p:cNvSpPr txBox="1"/>
          <p:nvPr>
            <p:ph idx="4294967295" type="title"/>
          </p:nvPr>
        </p:nvSpPr>
        <p:spPr>
          <a:xfrm>
            <a:off x="2382837" y="0"/>
            <a:ext cx="6508750" cy="587375"/>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0" i="0" lang="en-US" sz="2400" u="none" cap="none" strike="noStrike">
                <a:solidFill>
                  <a:schemeClr val="lt1"/>
                </a:solidFill>
                <a:latin typeface="Arial"/>
                <a:ea typeface="Arial"/>
                <a:cs typeface="Arial"/>
                <a:sym typeface="Arial"/>
              </a:rPr>
              <a:t>Search Layers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id="163" name="Google Shape;163;p9"/>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64" name="Google Shape;164;p9"/>
          <p:cNvSpPr txBox="1"/>
          <p:nvPr>
            <p:ph idx="4294967295" type="title"/>
          </p:nvPr>
        </p:nvSpPr>
        <p:spPr>
          <a:xfrm>
            <a:off x="828675" y="158750"/>
            <a:ext cx="2428875" cy="993775"/>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Administration</a:t>
            </a:r>
            <a:endParaRPr/>
          </a:p>
        </p:txBody>
      </p:sp>
      <p:pic>
        <p:nvPicPr>
          <p:cNvPr descr="A picture containing text&#10;&#10;Description automatically generated" id="165" name="Google Shape;165;p9"/>
          <p:cNvPicPr preferRelativeResize="0"/>
          <p:nvPr/>
        </p:nvPicPr>
        <p:blipFill rotWithShape="1">
          <a:blip r:embed="rId4">
            <a:alphaModFix/>
          </a:blip>
          <a:srcRect b="0" l="0" r="0" t="0"/>
          <a:stretch/>
        </p:blipFill>
        <p:spPr>
          <a:xfrm>
            <a:off x="828675" y="1138237"/>
            <a:ext cx="7316787" cy="2273300"/>
          </a:xfrm>
          <a:prstGeom prst="rect">
            <a:avLst/>
          </a:prstGeom>
          <a:noFill/>
          <a:ln>
            <a:noFill/>
          </a:ln>
        </p:spPr>
      </p:pic>
      <p:sp>
        <p:nvSpPr>
          <p:cNvPr id="166" name="Google Shape;166;p9"/>
          <p:cNvSpPr txBox="1"/>
          <p:nvPr/>
        </p:nvSpPr>
        <p:spPr>
          <a:xfrm>
            <a:off x="749300" y="3411537"/>
            <a:ext cx="6565900" cy="2301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900"/>
              <a:buFont typeface="Calibri"/>
              <a:buNone/>
            </a:pPr>
            <a:r>
              <a:rPr b="0" i="0" lang="en-US" sz="900" u="sng">
                <a:solidFill>
                  <a:schemeClr val="dk1"/>
                </a:solidFill>
                <a:latin typeface="Calibri"/>
                <a:ea typeface="Calibri"/>
                <a:cs typeface="Calibri"/>
                <a:sym typeface="Calibri"/>
                <a:hlinkClick r:id="rId5">
                  <a:extLst>
                    <a:ext uri="{A12FA001-AC4F-418D-AE19-62706E023703}">
                      <ahyp:hlinkClr val="tx"/>
                    </a:ext>
                  </a:extLst>
                </a:hlinkClick>
              </a:rPr>
              <a:t>This Photo</a:t>
            </a:r>
            <a:r>
              <a:rPr b="0" i="0" lang="en-US" sz="900" u="none">
                <a:solidFill>
                  <a:schemeClr val="dk1"/>
                </a:solidFill>
                <a:latin typeface="Calibri"/>
                <a:ea typeface="Calibri"/>
                <a:cs typeface="Calibri"/>
                <a:sym typeface="Calibri"/>
              </a:rPr>
              <a:t>This Photo by Unknown Author is licensed under </a:t>
            </a:r>
            <a:r>
              <a:rPr b="0" i="0" lang="en-US" sz="900" u="sng">
                <a:solidFill>
                  <a:schemeClr val="dk1"/>
                </a:solidFill>
                <a:latin typeface="Calibri"/>
                <a:ea typeface="Calibri"/>
                <a:cs typeface="Calibri"/>
                <a:sym typeface="Calibri"/>
                <a:hlinkClick r:id="rId6">
                  <a:extLst>
                    <a:ext uri="{A12FA001-AC4F-418D-AE19-62706E023703}">
                      <ahyp:hlinkClr val="tx"/>
                    </a:ext>
                  </a:extLst>
                </a:hlinkClick>
              </a:rPr>
              <a:t>CC BY-SA-NC</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id="172" name="Google Shape;172;p10"/>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73" name="Google Shape;173;p10"/>
          <p:cNvSpPr txBox="1"/>
          <p:nvPr/>
        </p:nvSpPr>
        <p:spPr>
          <a:xfrm>
            <a:off x="5834062" y="1235075"/>
            <a:ext cx="3170237" cy="255428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600"/>
              <a:buFont typeface="Arial"/>
              <a:buChar char="•"/>
            </a:pPr>
            <a:r>
              <a:rPr b="0" i="0" lang="en-US" sz="1600" u="none">
                <a:solidFill>
                  <a:schemeClr val="dk1"/>
                </a:solidFill>
                <a:latin typeface="Arial"/>
                <a:ea typeface="Arial"/>
                <a:cs typeface="Arial"/>
                <a:sym typeface="Arial"/>
              </a:rPr>
              <a:t>Admins use the QGIS interface customization tool to save the required config into a custom folder</a:t>
            </a:r>
            <a:endParaRPr/>
          </a:p>
          <a:p>
            <a:pPr indent="-184150" lvl="0" marL="285750" marR="0" rtl="0" algn="l">
              <a:lnSpc>
                <a:spcPct val="10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184150" lvl="0" marL="285750" marR="0" rtl="0" algn="l">
              <a:lnSpc>
                <a:spcPct val="10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a:solidFill>
                  <a:schemeClr val="dk1"/>
                </a:solidFill>
                <a:latin typeface="Arial"/>
                <a:ea typeface="Arial"/>
                <a:cs typeface="Arial"/>
                <a:sym typeface="Arial"/>
              </a:rPr>
              <a:t>Our system will then use this every time a user opens the custom simplified (or full) interface. </a:t>
            </a:r>
            <a:endParaRPr/>
          </a:p>
        </p:txBody>
      </p:sp>
      <p:pic>
        <p:nvPicPr>
          <p:cNvPr id="174" name="Google Shape;174;p10"/>
          <p:cNvPicPr preferRelativeResize="0"/>
          <p:nvPr/>
        </p:nvPicPr>
        <p:blipFill rotWithShape="1">
          <a:blip r:embed="rId4">
            <a:alphaModFix/>
          </a:blip>
          <a:srcRect b="0" l="0" r="0" t="0"/>
          <a:stretch/>
        </p:blipFill>
        <p:spPr>
          <a:xfrm>
            <a:off x="303212" y="863600"/>
            <a:ext cx="5056187" cy="3951287"/>
          </a:xfrm>
          <a:prstGeom prst="rect">
            <a:avLst/>
          </a:prstGeom>
          <a:noFill/>
          <a:ln>
            <a:noFill/>
          </a:ln>
        </p:spPr>
      </p:pic>
      <p:sp>
        <p:nvSpPr>
          <p:cNvPr id="175" name="Google Shape;175;p10"/>
          <p:cNvSpPr txBox="1"/>
          <p:nvPr/>
        </p:nvSpPr>
        <p:spPr>
          <a:xfrm>
            <a:off x="171450" y="4197350"/>
            <a:ext cx="1130300" cy="46355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300" u="none">
              <a:solidFill>
                <a:schemeClr val="dk1"/>
              </a:solidFill>
              <a:latin typeface="Calibri"/>
              <a:ea typeface="Calibri"/>
              <a:cs typeface="Calibri"/>
              <a:sym typeface="Calibri"/>
            </a:endParaRPr>
          </a:p>
        </p:txBody>
      </p:sp>
      <p:sp>
        <p:nvSpPr>
          <p:cNvPr id="176" name="Google Shape;176;p10"/>
          <p:cNvSpPr txBox="1"/>
          <p:nvPr>
            <p:ph idx="4294967295" type="title"/>
          </p:nvPr>
        </p:nvSpPr>
        <p:spPr>
          <a:xfrm>
            <a:off x="2281237" y="0"/>
            <a:ext cx="6862762" cy="612775"/>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0" i="0" lang="en-US" sz="2400" u="none" cap="none" strike="noStrike">
                <a:solidFill>
                  <a:schemeClr val="lt1"/>
                </a:solidFill>
                <a:latin typeface="Arial"/>
                <a:ea typeface="Arial"/>
                <a:cs typeface="Arial"/>
                <a:sym typeface="Arial"/>
              </a:rPr>
              <a:t>Change the UX</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11"/>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83" name="Google Shape;183;p11"/>
          <p:cNvSpPr txBox="1"/>
          <p:nvPr/>
        </p:nvSpPr>
        <p:spPr>
          <a:xfrm>
            <a:off x="171450" y="4197350"/>
            <a:ext cx="1130300" cy="46355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300" u="none">
              <a:solidFill>
                <a:schemeClr val="dk1"/>
              </a:solidFill>
              <a:latin typeface="Calibri"/>
              <a:ea typeface="Calibri"/>
              <a:cs typeface="Calibri"/>
              <a:sym typeface="Calibri"/>
            </a:endParaRPr>
          </a:p>
        </p:txBody>
      </p:sp>
      <p:pic>
        <p:nvPicPr>
          <p:cNvPr id="184" name="Google Shape;184;p11"/>
          <p:cNvPicPr preferRelativeResize="0"/>
          <p:nvPr/>
        </p:nvPicPr>
        <p:blipFill rotWithShape="1">
          <a:blip r:embed="rId4">
            <a:alphaModFix/>
          </a:blip>
          <a:srcRect b="0" l="0" r="0" t="0"/>
          <a:stretch/>
        </p:blipFill>
        <p:spPr>
          <a:xfrm>
            <a:off x="452437" y="696912"/>
            <a:ext cx="8120062" cy="4116387"/>
          </a:xfrm>
          <a:prstGeom prst="rect">
            <a:avLst/>
          </a:prstGeom>
          <a:noFill/>
          <a:ln>
            <a:noFill/>
          </a:ln>
        </p:spPr>
      </p:pic>
      <p:sp>
        <p:nvSpPr>
          <p:cNvPr id="185" name="Google Shape;185;p11"/>
          <p:cNvSpPr txBox="1"/>
          <p:nvPr>
            <p:ph idx="4294967295" type="title"/>
          </p:nvPr>
        </p:nvSpPr>
        <p:spPr>
          <a:xfrm>
            <a:off x="2205037" y="0"/>
            <a:ext cx="6634162" cy="60166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0" i="0" lang="en-US" sz="2400" u="none" cap="none" strike="noStrike">
                <a:solidFill>
                  <a:schemeClr val="lt1"/>
                </a:solidFill>
                <a:latin typeface="Arial"/>
                <a:ea typeface="Arial"/>
                <a:cs typeface="Arial"/>
                <a:sym typeface="Arial"/>
              </a:rPr>
              <a:t>Install</a:t>
            </a:r>
            <a:r>
              <a:rPr b="0" i="0" lang="en-US" sz="2400" u="none" cap="none" strike="noStrike">
                <a:solidFill>
                  <a:schemeClr val="dk1"/>
                </a:solidFill>
                <a:latin typeface="Arial"/>
                <a:ea typeface="Arial"/>
                <a:cs typeface="Arial"/>
                <a:sym typeface="Arial"/>
              </a:rPr>
              <a:t> </a:t>
            </a:r>
            <a:r>
              <a:rPr b="0" i="0" lang="en-US" sz="2400" u="none" cap="none" strike="noStrike">
                <a:solidFill>
                  <a:schemeClr val="lt1"/>
                </a:solidFill>
                <a:latin typeface="Arial"/>
                <a:ea typeface="Arial"/>
                <a:cs typeface="Arial"/>
                <a:sym typeface="Arial"/>
              </a:rPr>
              <a:t>Plugins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p12"/>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92" name="Google Shape;192;p12"/>
          <p:cNvSpPr txBox="1"/>
          <p:nvPr/>
        </p:nvSpPr>
        <p:spPr>
          <a:xfrm>
            <a:off x="4746625" y="512762"/>
            <a:ext cx="4260850" cy="34639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300"/>
              <a:buFont typeface="Arial"/>
              <a:buNone/>
            </a:pPr>
            <a:br>
              <a:rPr b="0" i="0" lang="en-US" sz="1300" u="none">
                <a:solidFill>
                  <a:schemeClr val="dk1"/>
                </a:solidFill>
                <a:latin typeface="Arial"/>
                <a:ea typeface="Arial"/>
                <a:cs typeface="Arial"/>
                <a:sym typeface="Arial"/>
              </a:rPr>
            </a:br>
            <a:r>
              <a:rPr b="0" i="0" lang="en-US" sz="1800" u="none">
                <a:solidFill>
                  <a:srgbClr val="000000"/>
                </a:solidFill>
                <a:latin typeface="Arial"/>
                <a:ea typeface="Arial"/>
                <a:cs typeface="Arial"/>
                <a:sym typeface="Arial"/>
              </a:rPr>
              <a:t>Field 1 = </a:t>
            </a:r>
            <a:r>
              <a:rPr b="1" i="0" lang="en-US" sz="1800" u="none">
                <a:solidFill>
                  <a:srgbClr val="000000"/>
                </a:solidFill>
                <a:latin typeface="Arial"/>
                <a:ea typeface="Arial"/>
                <a:cs typeface="Arial"/>
                <a:sym typeface="Arial"/>
              </a:rPr>
              <a:t>Custom Menu</a:t>
            </a:r>
            <a:endParaRPr b="0" i="0" sz="1300" u="non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Field 2 = </a:t>
            </a:r>
            <a:r>
              <a:rPr b="1" i="0" lang="en-US" sz="1800" u="none">
                <a:solidFill>
                  <a:srgbClr val="000000"/>
                </a:solidFill>
                <a:latin typeface="Arial"/>
                <a:ea typeface="Arial"/>
                <a:cs typeface="Arial"/>
                <a:sym typeface="Arial"/>
              </a:rPr>
              <a:t>Test</a:t>
            </a:r>
            <a:endParaRPr b="0" i="0" sz="1300" u="non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Field 3 = </a:t>
            </a:r>
            <a:r>
              <a:rPr b="1" i="0" lang="en-US" sz="1800" u="none">
                <a:solidFill>
                  <a:srgbClr val="000000"/>
                </a:solidFill>
                <a:latin typeface="Arial"/>
                <a:ea typeface="Arial"/>
                <a:cs typeface="Arial"/>
                <a:sym typeface="Arial"/>
              </a:rPr>
              <a:t>Contours</a:t>
            </a:r>
            <a:endParaRPr b="0" i="0" sz="1300" u="non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Field 4 = </a:t>
            </a:r>
            <a:r>
              <a:rPr b="1" i="0" lang="en-US" sz="1800" u="sng">
                <a:solidFill>
                  <a:srgbClr val="000000"/>
                </a:solidFill>
                <a:latin typeface="Calibri"/>
                <a:ea typeface="Calibri"/>
                <a:cs typeface="Calibri"/>
                <a:sym typeface="Calibri"/>
                <a:hlinkClick r:id="rId4">
                  <a:extLst>
                    <a:ext uri="{A12FA001-AC4F-418D-AE19-62706E023703}">
                      <ahyp:hlinkClr val="tx"/>
                    </a:ext>
                  </a:extLst>
                </a:hlinkClick>
              </a:rPr>
              <a:t>\\PROD\GIS\Data</a:t>
            </a:r>
            <a:endParaRPr/>
          </a:p>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Field 5 = </a:t>
            </a:r>
            <a:r>
              <a:rPr b="1" i="0" lang="en-US" sz="1800" u="none">
                <a:solidFill>
                  <a:srgbClr val="000000"/>
                </a:solidFill>
                <a:latin typeface="Arial"/>
                <a:ea typeface="Arial"/>
                <a:cs typeface="Arial"/>
                <a:sym typeface="Arial"/>
              </a:rPr>
              <a:t>Contours.shp</a:t>
            </a:r>
            <a:endParaRPr b="0" i="0" sz="1300" u="non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Field 6 = </a:t>
            </a:r>
            <a:r>
              <a:rPr b="1" i="0" lang="en-US" sz="1800" u="none">
                <a:solidFill>
                  <a:srgbClr val="000000"/>
                </a:solidFill>
                <a:latin typeface="Arial"/>
                <a:ea typeface="Arial"/>
                <a:cs typeface="Arial"/>
                <a:sym typeface="Arial"/>
              </a:rPr>
              <a:t>Contours.qml</a:t>
            </a:r>
            <a:endParaRPr b="0" i="0" sz="1300" u="non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Field 7 = </a:t>
            </a:r>
            <a:r>
              <a:rPr b="1" i="0" lang="en-US" sz="1800" u="none">
                <a:solidFill>
                  <a:srgbClr val="000000"/>
                </a:solidFill>
                <a:latin typeface="Arial"/>
                <a:ea typeface="Arial"/>
                <a:cs typeface="Arial"/>
                <a:sym typeface="Arial"/>
              </a:rPr>
              <a:t>Contours</a:t>
            </a:r>
            <a:endParaRPr b="0" i="0" sz="1300" u="non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Field 8 = (blank) –for database views</a:t>
            </a:r>
            <a:endParaRPr/>
          </a:p>
          <a:p>
            <a:pPr indent="0" lvl="0" marL="0" marR="0" rtl="0" algn="just">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Field 9 =  (blank) –for Web Services</a:t>
            </a:r>
            <a:endParaRPr b="0" i="0" sz="1300" u="non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Field 10 = </a:t>
            </a:r>
            <a:r>
              <a:rPr b="1" i="0" lang="en-US" sz="1800" u="none">
                <a:solidFill>
                  <a:srgbClr val="000000"/>
                </a:solidFill>
                <a:latin typeface="Arial"/>
                <a:ea typeface="Arial"/>
                <a:cs typeface="Arial"/>
                <a:sym typeface="Arial"/>
              </a:rPr>
              <a:t>ogr</a:t>
            </a:r>
            <a:endParaRPr b="0" i="0" sz="1300" u="non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Arial"/>
              <a:buNone/>
            </a:pPr>
            <a:br>
              <a:rPr b="0" i="0" lang="en-US" sz="1300" u="none">
                <a:solidFill>
                  <a:schemeClr val="dk1"/>
                </a:solidFill>
                <a:latin typeface="Arial"/>
                <a:ea typeface="Arial"/>
                <a:cs typeface="Arial"/>
                <a:sym typeface="Arial"/>
              </a:rPr>
            </a:br>
            <a:endParaRPr/>
          </a:p>
        </p:txBody>
      </p:sp>
      <p:sp>
        <p:nvSpPr>
          <p:cNvPr id="193" name="Google Shape;193;p12"/>
          <p:cNvSpPr txBox="1"/>
          <p:nvPr/>
        </p:nvSpPr>
        <p:spPr>
          <a:xfrm>
            <a:off x="171450" y="4197350"/>
            <a:ext cx="1130300" cy="46355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300" u="none">
              <a:solidFill>
                <a:schemeClr val="dk1"/>
              </a:solidFill>
              <a:latin typeface="Calibri"/>
              <a:ea typeface="Calibri"/>
              <a:cs typeface="Calibri"/>
              <a:sym typeface="Calibri"/>
            </a:endParaRPr>
          </a:p>
        </p:txBody>
      </p:sp>
      <p:sp>
        <p:nvSpPr>
          <p:cNvPr id="194" name="Google Shape;194;p12"/>
          <p:cNvSpPr txBox="1"/>
          <p:nvPr/>
        </p:nvSpPr>
        <p:spPr>
          <a:xfrm>
            <a:off x="1328737" y="452437"/>
            <a:ext cx="6486525" cy="423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300" u="none">
              <a:solidFill>
                <a:schemeClr val="dk1"/>
              </a:solidFill>
              <a:latin typeface="Calibri"/>
              <a:ea typeface="Calibri"/>
              <a:cs typeface="Calibri"/>
              <a:sym typeface="Calibri"/>
            </a:endParaRPr>
          </a:p>
        </p:txBody>
      </p:sp>
      <p:sp>
        <p:nvSpPr>
          <p:cNvPr id="195" name="Google Shape;195;p12"/>
          <p:cNvSpPr txBox="1"/>
          <p:nvPr/>
        </p:nvSpPr>
        <p:spPr>
          <a:xfrm>
            <a:off x="171450" y="3752850"/>
            <a:ext cx="8656637" cy="9382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In the configuration file, each line represents a menu item, in a 10-fields comma-separated distribution, as exemplified below:</a:t>
            </a:r>
            <a:endParaRPr b="0" i="0" sz="13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300"/>
              <a:buFont typeface="Arial"/>
              <a:buNone/>
            </a:pPr>
            <a:br>
              <a:rPr b="0" i="0" lang="en-US" sz="1300" u="none">
                <a:solidFill>
                  <a:schemeClr val="dk1"/>
                </a:solidFill>
                <a:latin typeface="Arial"/>
                <a:ea typeface="Arial"/>
                <a:cs typeface="Arial"/>
                <a:sym typeface="Arial"/>
              </a:rPr>
            </a:br>
            <a:r>
              <a:rPr b="1" i="0" lang="en-US" sz="1400" u="none">
                <a:solidFill>
                  <a:srgbClr val="000000"/>
                </a:solidFill>
                <a:latin typeface="Arial"/>
                <a:ea typeface="Arial"/>
                <a:cs typeface="Arial"/>
                <a:sym typeface="Arial"/>
              </a:rPr>
              <a:t>Custom Menu,Test,Contours,\\GIS\Data,contours.shp,contours.qml,Contours,,,ogr</a:t>
            </a:r>
            <a:endParaRPr/>
          </a:p>
        </p:txBody>
      </p:sp>
      <p:sp>
        <p:nvSpPr>
          <p:cNvPr id="196" name="Google Shape;196;p12"/>
          <p:cNvSpPr txBox="1"/>
          <p:nvPr>
            <p:ph idx="4294967295" type="title"/>
          </p:nvPr>
        </p:nvSpPr>
        <p:spPr>
          <a:xfrm>
            <a:off x="2341562" y="0"/>
            <a:ext cx="6802437" cy="587375"/>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0" i="0" lang="en-US" sz="2400" u="none" cap="none" strike="noStrike">
                <a:solidFill>
                  <a:schemeClr val="lt1"/>
                </a:solidFill>
                <a:latin typeface="Arial"/>
                <a:ea typeface="Arial"/>
                <a:cs typeface="Arial"/>
                <a:sym typeface="Arial"/>
              </a:rPr>
              <a:t>Add / Modify Menu items</a:t>
            </a:r>
            <a:endParaRPr/>
          </a:p>
        </p:txBody>
      </p:sp>
      <p:pic>
        <p:nvPicPr>
          <p:cNvPr id="197" name="Google Shape;197;p12"/>
          <p:cNvPicPr preferRelativeResize="0"/>
          <p:nvPr/>
        </p:nvPicPr>
        <p:blipFill rotWithShape="1">
          <a:blip r:embed="rId5">
            <a:alphaModFix/>
          </a:blip>
          <a:srcRect b="0" l="0" r="0" t="0"/>
          <a:stretch/>
        </p:blipFill>
        <p:spPr>
          <a:xfrm>
            <a:off x="139700" y="661987"/>
            <a:ext cx="4606925" cy="28035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id="203" name="Google Shape;203;p13"/>
          <p:cNvPicPr preferRelativeResize="0"/>
          <p:nvPr/>
        </p:nvPicPr>
        <p:blipFill rotWithShape="1">
          <a:blip r:embed="rId3">
            <a:alphaModFix/>
          </a:blip>
          <a:srcRect b="0" l="0" r="0" t="0"/>
          <a:stretch/>
        </p:blipFill>
        <p:spPr>
          <a:xfrm>
            <a:off x="0" y="0"/>
            <a:ext cx="9144000" cy="5143500"/>
          </a:xfrm>
          <a:prstGeom prst="rect">
            <a:avLst/>
          </a:prstGeom>
          <a:noFill/>
          <a:ln>
            <a:noFill/>
          </a:ln>
        </p:spPr>
      </p:pic>
      <p:graphicFrame>
        <p:nvGraphicFramePr>
          <p:cNvPr id="204" name="Google Shape;204;p13"/>
          <p:cNvGraphicFramePr/>
          <p:nvPr/>
        </p:nvGraphicFramePr>
        <p:xfrm>
          <a:off x="827087" y="730250"/>
          <a:ext cx="3000000" cy="3000000"/>
        </p:xfrm>
        <a:graphic>
          <a:graphicData uri="http://schemas.openxmlformats.org/drawingml/2006/table">
            <a:tbl>
              <a:tblPr>
                <a:noFill/>
                <a:tableStyleId>{32ED39FC-80F1-4CA4-A6D1-AB31B4BDA9F8}</a:tableStyleId>
              </a:tblPr>
              <a:tblGrid>
                <a:gridCol w="890575"/>
                <a:gridCol w="5494325"/>
                <a:gridCol w="922325"/>
              </a:tblGrid>
              <a:tr h="379400">
                <a:tc>
                  <a:txBody>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Field Name</a:t>
                      </a:r>
                      <a:endParaRPr/>
                    </a:p>
                  </a:txBody>
                  <a:tcPr marT="60000" marB="60000" marR="59975" marL="599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Description</a:t>
                      </a:r>
                      <a:endParaRPr/>
                    </a:p>
                  </a:txBody>
                  <a:tcPr marT="60000" marB="60000" marR="59975" marL="599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Mandatory Field</a:t>
                      </a:r>
                      <a:endParaRPr/>
                    </a:p>
                  </a:txBody>
                  <a:tcPr marT="60000" marB="60000" marR="59975" marL="599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000000"/>
                    </a:solidFill>
                  </a:tcPr>
                </a:tc>
              </a:tr>
              <a:tr h="271450">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Field 1</a:t>
                      </a:r>
                      <a:endParaRPr/>
                    </a:p>
                  </a:txBody>
                  <a:tcPr marT="60000" marB="60000" marR="59975" marL="599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Name of the first level menu item</a:t>
                      </a:r>
                      <a:endParaRPr/>
                    </a:p>
                  </a:txBody>
                  <a:tcPr marT="60000" marB="60000" marR="59975" marL="599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YES</a:t>
                      </a:r>
                      <a:endParaRPr/>
                    </a:p>
                  </a:txBody>
                  <a:tcPr marT="60000" marB="60000" marR="59975" marL="599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3050">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Field 2</a:t>
                      </a:r>
                      <a:endParaRPr/>
                    </a:p>
                  </a:txBody>
                  <a:tcPr marT="60000" marB="60000" marR="59975" marL="599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Name of the second level menu item</a:t>
                      </a:r>
                      <a:endParaRPr/>
                    </a:p>
                  </a:txBody>
                  <a:tcPr marT="60000" marB="60000" marR="59975" marL="599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YES</a:t>
                      </a:r>
                      <a:endParaRPr/>
                    </a:p>
                  </a:txBody>
                  <a:tcPr marT="60000" marB="60000" marR="59975" marL="599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3050">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Field 3</a:t>
                      </a:r>
                      <a:endParaRPr/>
                    </a:p>
                  </a:txBody>
                  <a:tcPr marT="60000" marB="60000" marR="59975" marL="599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Name of the third level menu item</a:t>
                      </a:r>
                      <a:endParaRPr/>
                    </a:p>
                  </a:txBody>
                  <a:tcPr marT="60000" marB="60000" marR="59975" marL="599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YES</a:t>
                      </a:r>
                      <a:endParaRPr/>
                    </a:p>
                  </a:txBody>
                  <a:tcPr marT="60000" marB="60000" marR="59975" marL="599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1450">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Field 4</a:t>
                      </a:r>
                      <a:endParaRPr/>
                    </a:p>
                  </a:txBody>
                  <a:tcPr marT="60000" marB="60000" marR="59975" marL="599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System full path of the directory where the target GIS dataset is saved </a:t>
                      </a:r>
                      <a:endParaRPr/>
                    </a:p>
                  </a:txBody>
                  <a:tcPr marT="60000" marB="60000" marR="59975" marL="599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YES</a:t>
                      </a:r>
                      <a:endParaRPr/>
                    </a:p>
                  </a:txBody>
                  <a:tcPr marT="60000" marB="60000" marR="59975" marL="599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25450">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Field 5</a:t>
                      </a:r>
                      <a:endParaRPr/>
                    </a:p>
                  </a:txBody>
                  <a:tcPr marT="60000" marB="60000" marR="59975" marL="599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Name of the target GIS dataset (a file name). This can be any vector dataset (ShapeFile, TAB file etc.) or any raster dataset (ERS/ECW, GeoTIFF etc.)</a:t>
                      </a:r>
                      <a:endParaRPr/>
                    </a:p>
                  </a:txBody>
                  <a:tcPr marT="60000" marB="60000" marR="59975" marL="599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YES</a:t>
                      </a:r>
                      <a:endParaRPr/>
                    </a:p>
                  </a:txBody>
                  <a:tcPr marT="60000" marB="60000" marR="59975" marL="599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77850">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Field 6</a:t>
                      </a:r>
                      <a:endParaRPr/>
                    </a:p>
                  </a:txBody>
                  <a:tcPr marT="60000" marB="60000" marR="59975" marL="599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 QGIS styling file (QML file) to be applied to the target GIS dataset when loaded as a QGIS layer. The QML file has to exist in the same directory declared in Field 4. Leave field blank if no custom styling is required for the layer.</a:t>
                      </a:r>
                      <a:endParaRPr/>
                    </a:p>
                  </a:txBody>
                  <a:tcPr marT="60000" marB="60000" marR="59975" marL="599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NO</a:t>
                      </a:r>
                      <a:endParaRPr/>
                    </a:p>
                  </a:txBody>
                  <a:tcPr marT="60000" marB="60000" marR="59975" marL="599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1450">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Field 7</a:t>
                      </a:r>
                      <a:endParaRPr/>
                    </a:p>
                  </a:txBody>
                  <a:tcPr marT="60000" marB="60000" marR="59975" marL="599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Name used for the layer holding the target GIS dataset</a:t>
                      </a:r>
                      <a:endParaRPr/>
                    </a:p>
                  </a:txBody>
                  <a:tcPr marT="60000" marB="60000" marR="59975" marL="599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YES</a:t>
                      </a:r>
                      <a:endParaRPr/>
                    </a:p>
                  </a:txBody>
                  <a:tcPr marT="60000" marB="60000" marR="59975" marL="599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3050">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Field 8</a:t>
                      </a:r>
                      <a:endParaRPr/>
                    </a:p>
                  </a:txBody>
                  <a:tcPr marT="60000" marB="60000" marR="59975" marL="599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Reserved field. Leave it blank. This will hold queries and database table views</a:t>
                      </a:r>
                      <a:endParaRPr/>
                    </a:p>
                  </a:txBody>
                  <a:tcPr marT="60000" marB="60000" marR="59975" marL="599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NO</a:t>
                      </a:r>
                      <a:endParaRPr/>
                    </a:p>
                  </a:txBody>
                  <a:tcPr marT="60000" marB="60000" marR="59975" marL="599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1450">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Field 9</a:t>
                      </a:r>
                      <a:endParaRPr/>
                    </a:p>
                  </a:txBody>
                  <a:tcPr marT="60000" marB="60000" marR="59975" marL="599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Reserved field. Leave it blank. This will hold server info for WMS/WCS layers</a:t>
                      </a:r>
                      <a:endParaRPr/>
                    </a:p>
                  </a:txBody>
                  <a:tcPr marT="60000" marB="60000" marR="59975" marL="599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NO</a:t>
                      </a:r>
                      <a:endParaRPr/>
                    </a:p>
                  </a:txBody>
                  <a:tcPr marT="60000" marB="60000" marR="59975" marL="599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3050">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Field 10</a:t>
                      </a:r>
                      <a:endParaRPr/>
                    </a:p>
                  </a:txBody>
                  <a:tcPr marT="60000" marB="60000" marR="59975" marL="599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QGIS layer type. Use “ogr” for vector layers and “gdal” for raster layers</a:t>
                      </a:r>
                      <a:endParaRPr/>
                    </a:p>
                  </a:txBody>
                  <a:tcPr marT="60000" marB="60000" marR="59975" marL="599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YES</a:t>
                      </a:r>
                      <a:endParaRPr/>
                    </a:p>
                  </a:txBody>
                  <a:tcPr marT="60000" marB="60000" marR="59975" marL="599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205" name="Google Shape;205;p13"/>
          <p:cNvSpPr txBox="1"/>
          <p:nvPr/>
        </p:nvSpPr>
        <p:spPr>
          <a:xfrm>
            <a:off x="1509712" y="1252537"/>
            <a:ext cx="7634287" cy="69215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300"/>
              <a:buFont typeface="Arial"/>
              <a:buNone/>
            </a:pPr>
            <a:br>
              <a:rPr b="0" i="0" lang="en-US" sz="1300" u="none">
                <a:solidFill>
                  <a:schemeClr val="dk1"/>
                </a:solidFill>
                <a:latin typeface="Arial"/>
                <a:ea typeface="Arial"/>
                <a:cs typeface="Arial"/>
                <a:sym typeface="Arial"/>
              </a:rPr>
            </a:br>
            <a:endParaRPr/>
          </a:p>
          <a:p>
            <a:pPr indent="0" lvl="0" marL="0" marR="0" rtl="0" algn="l">
              <a:lnSpc>
                <a:spcPct val="100000"/>
              </a:lnSpc>
              <a:spcBef>
                <a:spcPts val="0"/>
              </a:spcBef>
              <a:spcAft>
                <a:spcPts val="0"/>
              </a:spcAft>
              <a:buNone/>
            </a:pPr>
            <a:r>
              <a:t/>
            </a:r>
            <a:endParaRPr b="0" i="0" sz="1300" u="none">
              <a:solidFill>
                <a:schemeClr val="dk1"/>
              </a:solidFill>
              <a:latin typeface="Arial"/>
              <a:ea typeface="Arial"/>
              <a:cs typeface="Arial"/>
              <a:sym typeface="Arial"/>
            </a:endParaRPr>
          </a:p>
        </p:txBody>
      </p:sp>
      <p:sp>
        <p:nvSpPr>
          <p:cNvPr id="206" name="Google Shape;206;p13"/>
          <p:cNvSpPr txBox="1"/>
          <p:nvPr/>
        </p:nvSpPr>
        <p:spPr>
          <a:xfrm>
            <a:off x="279400" y="4392612"/>
            <a:ext cx="8507412"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A third level menu can be configured to load more than one GIS dataset layer in QGIS.</a:t>
            </a:r>
            <a:endParaRPr/>
          </a:p>
          <a:p>
            <a:pPr indent="0" lvl="0" marL="0" marR="0" rtl="0" algn="l">
              <a:lnSpc>
                <a:spcPct val="100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In that case, fields 1, 2 and 3 will repeat. Fields 4, 5, 6, 7 and 10 will hold different values.</a:t>
            </a:r>
            <a:endParaRPr/>
          </a:p>
        </p:txBody>
      </p:sp>
      <p:sp>
        <p:nvSpPr>
          <p:cNvPr id="207" name="Google Shape;207;p13"/>
          <p:cNvSpPr txBox="1"/>
          <p:nvPr/>
        </p:nvSpPr>
        <p:spPr>
          <a:xfrm>
            <a:off x="2341562" y="0"/>
            <a:ext cx="6802437" cy="587375"/>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0" i="0" lang="en-US" sz="2400" u="none">
                <a:solidFill>
                  <a:schemeClr val="lt1"/>
                </a:solidFill>
                <a:latin typeface="Arial"/>
                <a:ea typeface="Arial"/>
                <a:cs typeface="Arial"/>
                <a:sym typeface="Arial"/>
              </a:rPr>
              <a:t>Add / Modify Menu items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pic>
        <p:nvPicPr>
          <p:cNvPr id="213" name="Google Shape;213;p14"/>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14" name="Google Shape;214;p14"/>
          <p:cNvSpPr txBox="1"/>
          <p:nvPr/>
        </p:nvSpPr>
        <p:spPr>
          <a:xfrm>
            <a:off x="2316162" y="49212"/>
            <a:ext cx="2274887"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Arial"/>
              <a:buNone/>
            </a:pPr>
            <a:r>
              <a:rPr b="0" i="0" lang="en-US" sz="2400" u="none">
                <a:solidFill>
                  <a:schemeClr val="lt1"/>
                </a:solidFill>
                <a:latin typeface="Arial"/>
                <a:ea typeface="Arial"/>
                <a:cs typeface="Arial"/>
                <a:sym typeface="Arial"/>
              </a:rPr>
              <a:t>Custom Search</a:t>
            </a:r>
            <a:endParaRPr/>
          </a:p>
        </p:txBody>
      </p:sp>
      <p:sp>
        <p:nvSpPr>
          <p:cNvPr id="215" name="Google Shape;215;p14"/>
          <p:cNvSpPr txBox="1"/>
          <p:nvPr/>
        </p:nvSpPr>
        <p:spPr>
          <a:xfrm>
            <a:off x="4743450" y="857250"/>
            <a:ext cx="4260850" cy="18002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Field 1 = </a:t>
            </a:r>
            <a:r>
              <a:rPr b="1" i="0" lang="en-US" sz="1400" u="none">
                <a:solidFill>
                  <a:srgbClr val="000000"/>
                </a:solidFill>
                <a:latin typeface="Arial"/>
                <a:ea typeface="Arial"/>
                <a:cs typeface="Arial"/>
                <a:sym typeface="Arial"/>
              </a:rPr>
              <a:t>Find Lot by Address</a:t>
            </a:r>
            <a:endParaRPr b="0" i="0" sz="1100" u="non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Field 2 = </a:t>
            </a:r>
            <a:r>
              <a:rPr b="1" i="0" lang="en-US" sz="1400" u="none">
                <a:solidFill>
                  <a:srgbClr val="000000"/>
                </a:solidFill>
                <a:latin typeface="Arial"/>
                <a:ea typeface="Arial"/>
                <a:cs typeface="Arial"/>
                <a:sym typeface="Arial"/>
              </a:rPr>
              <a:t>AthertonDCDB</a:t>
            </a:r>
            <a:endParaRPr b="0" i="0" sz="1100" u="non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Field 3 = </a:t>
            </a:r>
            <a:r>
              <a:rPr b="1" i="0" lang="en-US" sz="1400" u="none">
                <a:solidFill>
                  <a:srgbClr val="000000"/>
                </a:solidFill>
                <a:latin typeface="Arial"/>
                <a:ea typeface="Arial"/>
                <a:cs typeface="Arial"/>
                <a:sym typeface="Arial"/>
              </a:rPr>
              <a:t>ST_Address</a:t>
            </a:r>
            <a:endParaRPr b="0" i="0" sz="1100" u="non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Field 4 = </a:t>
            </a:r>
            <a:r>
              <a:rPr b="1" i="0" lang="en-US" sz="1400" u="none">
                <a:solidFill>
                  <a:srgbClr val="000000"/>
                </a:solidFill>
                <a:latin typeface="Arial"/>
                <a:ea typeface="Arial"/>
                <a:cs typeface="Arial"/>
                <a:sym typeface="Arial"/>
              </a:rPr>
              <a:t>Cadastre\AthertonDCDB.tab</a:t>
            </a:r>
            <a:endParaRPr b="0" i="0" sz="1100" u="non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Field 5 = </a:t>
            </a:r>
            <a:r>
              <a:rPr b="1" i="0" lang="en-US" sz="1400" u="none">
                <a:solidFill>
                  <a:srgbClr val="000000"/>
                </a:solidFill>
                <a:latin typeface="Arial"/>
                <a:ea typeface="Arial"/>
                <a:cs typeface="Arial"/>
                <a:sym typeface="Arial"/>
              </a:rPr>
              <a:t>Use any Road Name. e.g Main</a:t>
            </a:r>
            <a:endParaRPr b="0" i="0" sz="1100" u="non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Field 6 = </a:t>
            </a:r>
            <a:r>
              <a:rPr b="1" i="0" lang="en-US" sz="1400" u="none">
                <a:solidFill>
                  <a:srgbClr val="000000"/>
                </a:solidFill>
                <a:latin typeface="Arial"/>
                <a:ea typeface="Arial"/>
                <a:cs typeface="Arial"/>
                <a:sym typeface="Arial"/>
              </a:rPr>
              <a:t>ST_Address^^LOTPLAN</a:t>
            </a:r>
            <a:endParaRPr b="0" i="0" sz="1100" u="non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a:solidFill>
                  <a:srgbClr val="000000"/>
                </a:solidFill>
                <a:latin typeface="Arial"/>
                <a:ea typeface="Arial"/>
                <a:cs typeface="Arial"/>
                <a:sym typeface="Arial"/>
              </a:rPr>
              <a:t>Field 7 = </a:t>
            </a:r>
            <a:r>
              <a:rPr b="1" i="0" lang="en-US" sz="1400" u="none">
                <a:solidFill>
                  <a:srgbClr val="000000"/>
                </a:solidFill>
                <a:latin typeface="Arial"/>
                <a:ea typeface="Arial"/>
                <a:cs typeface="Arial"/>
                <a:sym typeface="Arial"/>
              </a:rPr>
              <a:t>Like</a:t>
            </a:r>
            <a:br>
              <a:rPr b="0" i="0" lang="en-US" sz="1300" u="none">
                <a:solidFill>
                  <a:schemeClr val="dk1"/>
                </a:solidFill>
                <a:latin typeface="Arial"/>
                <a:ea typeface="Arial"/>
                <a:cs typeface="Arial"/>
                <a:sym typeface="Arial"/>
              </a:rPr>
            </a:br>
            <a:endParaRPr/>
          </a:p>
        </p:txBody>
      </p:sp>
      <p:sp>
        <p:nvSpPr>
          <p:cNvPr id="216" name="Google Shape;216;p14"/>
          <p:cNvSpPr txBox="1"/>
          <p:nvPr/>
        </p:nvSpPr>
        <p:spPr>
          <a:xfrm>
            <a:off x="171450" y="4197350"/>
            <a:ext cx="1130300" cy="46355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300" u="none">
              <a:solidFill>
                <a:schemeClr val="dk1"/>
              </a:solidFill>
              <a:latin typeface="Calibri"/>
              <a:ea typeface="Calibri"/>
              <a:cs typeface="Calibri"/>
              <a:sym typeface="Calibri"/>
            </a:endParaRPr>
          </a:p>
        </p:txBody>
      </p:sp>
      <p:sp>
        <p:nvSpPr>
          <p:cNvPr id="217" name="Google Shape;217;p14"/>
          <p:cNvSpPr txBox="1"/>
          <p:nvPr/>
        </p:nvSpPr>
        <p:spPr>
          <a:xfrm>
            <a:off x="1328737" y="452437"/>
            <a:ext cx="6486525" cy="423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300" u="none">
              <a:solidFill>
                <a:schemeClr val="dk1"/>
              </a:solidFill>
              <a:latin typeface="Calibri"/>
              <a:ea typeface="Calibri"/>
              <a:cs typeface="Calibri"/>
              <a:sym typeface="Calibri"/>
            </a:endParaRPr>
          </a:p>
        </p:txBody>
      </p:sp>
      <p:sp>
        <p:nvSpPr>
          <p:cNvPr id="218" name="Google Shape;218;p14"/>
          <p:cNvSpPr txBox="1"/>
          <p:nvPr/>
        </p:nvSpPr>
        <p:spPr>
          <a:xfrm>
            <a:off x="171450" y="3535362"/>
            <a:ext cx="8662987" cy="15240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In the configuration file, each line represents a pre-configured search option, in a 7-fields comma-separated distribution, as exemplified below:</a:t>
            </a:r>
            <a:endParaRPr b="0" i="0" sz="16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br>
              <a:rPr b="0" i="0" lang="en-US" sz="1600" u="none">
                <a:solidFill>
                  <a:schemeClr val="dk1"/>
                </a:solidFill>
                <a:latin typeface="Arial"/>
                <a:ea typeface="Arial"/>
                <a:cs typeface="Arial"/>
                <a:sym typeface="Arial"/>
              </a:rPr>
            </a:br>
            <a:r>
              <a:rPr b="1" i="0" lang="en-US" sz="1600" u="none">
                <a:solidFill>
                  <a:srgbClr val="000000"/>
                </a:solidFill>
                <a:latin typeface="Arial"/>
                <a:ea typeface="Arial"/>
                <a:cs typeface="Arial"/>
                <a:sym typeface="Arial"/>
              </a:rPr>
              <a:t>Find LOT By Address,Parcel,ST_Address, Cadastre\AthertonDCDB.TAB,Use Address to find Lot number. e.g.: 23 Main,ST_Address^^LOTPLAN,Like</a:t>
            </a:r>
            <a:endParaRPr b="0" i="0" sz="1600" u="non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a:solidFill>
                <a:schemeClr val="dk1"/>
              </a:solidFill>
              <a:latin typeface="Arial"/>
              <a:ea typeface="Arial"/>
              <a:cs typeface="Arial"/>
              <a:sym typeface="Arial"/>
            </a:endParaRPr>
          </a:p>
        </p:txBody>
      </p:sp>
      <p:pic>
        <p:nvPicPr>
          <p:cNvPr id="219" name="Google Shape;219;p14"/>
          <p:cNvPicPr preferRelativeResize="0"/>
          <p:nvPr/>
        </p:nvPicPr>
        <p:blipFill rotWithShape="1">
          <a:blip r:embed="rId4">
            <a:alphaModFix/>
          </a:blip>
          <a:srcRect b="0" l="0" r="0" t="0"/>
          <a:stretch/>
        </p:blipFill>
        <p:spPr>
          <a:xfrm>
            <a:off x="139700" y="725487"/>
            <a:ext cx="4432300" cy="21018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pic>
        <p:nvPicPr>
          <p:cNvPr id="225" name="Google Shape;225;p15"/>
          <p:cNvPicPr preferRelativeResize="0"/>
          <p:nvPr/>
        </p:nvPicPr>
        <p:blipFill rotWithShape="1">
          <a:blip r:embed="rId3">
            <a:alphaModFix/>
          </a:blip>
          <a:srcRect b="0" l="0" r="0" t="0"/>
          <a:stretch/>
        </p:blipFill>
        <p:spPr>
          <a:xfrm>
            <a:off x="3175" y="0"/>
            <a:ext cx="9140825" cy="5143500"/>
          </a:xfrm>
          <a:prstGeom prst="rect">
            <a:avLst/>
          </a:prstGeom>
          <a:noFill/>
          <a:ln>
            <a:noFill/>
          </a:ln>
        </p:spPr>
      </p:pic>
      <p:sp>
        <p:nvSpPr>
          <p:cNvPr id="226" name="Google Shape;226;p15"/>
          <p:cNvSpPr txBox="1"/>
          <p:nvPr/>
        </p:nvSpPr>
        <p:spPr>
          <a:xfrm>
            <a:off x="1509712" y="1252537"/>
            <a:ext cx="7634287" cy="69215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300"/>
              <a:buFont typeface="Arial"/>
              <a:buNone/>
            </a:pPr>
            <a:br>
              <a:rPr b="0" i="0" lang="en-US" sz="1300" u="none">
                <a:solidFill>
                  <a:schemeClr val="dk1"/>
                </a:solidFill>
                <a:latin typeface="Arial"/>
                <a:ea typeface="Arial"/>
                <a:cs typeface="Arial"/>
                <a:sym typeface="Arial"/>
              </a:rPr>
            </a:br>
            <a:endParaRPr/>
          </a:p>
          <a:p>
            <a:pPr indent="0" lvl="0" marL="0" marR="0" rtl="0" algn="l">
              <a:lnSpc>
                <a:spcPct val="100000"/>
              </a:lnSpc>
              <a:spcBef>
                <a:spcPts val="0"/>
              </a:spcBef>
              <a:spcAft>
                <a:spcPts val="0"/>
              </a:spcAft>
              <a:buNone/>
            </a:pPr>
            <a:r>
              <a:t/>
            </a:r>
            <a:endParaRPr b="0" i="0" sz="1300" u="none">
              <a:solidFill>
                <a:schemeClr val="dk1"/>
              </a:solidFill>
              <a:latin typeface="Arial"/>
              <a:ea typeface="Arial"/>
              <a:cs typeface="Arial"/>
              <a:sym typeface="Arial"/>
            </a:endParaRPr>
          </a:p>
        </p:txBody>
      </p:sp>
      <p:sp>
        <p:nvSpPr>
          <p:cNvPr id="227" name="Google Shape;227;p15"/>
          <p:cNvSpPr txBox="1"/>
          <p:nvPr/>
        </p:nvSpPr>
        <p:spPr>
          <a:xfrm>
            <a:off x="544512" y="3943350"/>
            <a:ext cx="8054975" cy="9588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200"/>
              <a:buFont typeface="Arial"/>
              <a:buNone/>
            </a:pPr>
            <a:r>
              <a:rPr b="1" i="0" lang="en-US" sz="1200" u="none">
                <a:solidFill>
                  <a:srgbClr val="000000"/>
                </a:solidFill>
                <a:latin typeface="Arial"/>
                <a:ea typeface="Arial"/>
                <a:cs typeface="Arial"/>
                <a:sym typeface="Arial"/>
              </a:rPr>
              <a:t>Additional Functionality</a:t>
            </a:r>
            <a:r>
              <a:rPr b="0" i="0" lang="en-US" sz="1200" u="none">
                <a:solidFill>
                  <a:srgbClr val="000000"/>
                </a:solidFill>
                <a:latin typeface="Arial"/>
                <a:ea typeface="Arial"/>
                <a:cs typeface="Arial"/>
                <a:sym typeface="Arial"/>
              </a:rPr>
              <a:t> - </a:t>
            </a:r>
            <a:r>
              <a:rPr b="0" i="1" lang="en-US" sz="1200" u="none">
                <a:solidFill>
                  <a:srgbClr val="000000"/>
                </a:solidFill>
                <a:latin typeface="Arial"/>
                <a:ea typeface="Arial"/>
                <a:cs typeface="Arial"/>
                <a:sym typeface="Arial"/>
              </a:rPr>
              <a:t>Currently being tested and planned.</a:t>
            </a:r>
            <a:endParaRPr b="0" i="0" sz="1200" u="none">
              <a:solidFill>
                <a:schemeClr val="dk1"/>
              </a:solidFill>
              <a:latin typeface="Arial"/>
              <a:ea typeface="Arial"/>
              <a:cs typeface="Arial"/>
              <a:sym typeface="Arial"/>
            </a:endParaRPr>
          </a:p>
          <a:p>
            <a:pPr indent="-76200" lvl="0" marL="0" marR="0" rtl="0" algn="just">
              <a:lnSpc>
                <a:spcPct val="100000"/>
              </a:lnSpc>
              <a:spcBef>
                <a:spcPts val="1000"/>
              </a:spcBef>
              <a:spcAft>
                <a:spcPts val="0"/>
              </a:spcAft>
              <a:buClr>
                <a:srgbClr val="000000"/>
              </a:buClr>
              <a:buSzPts val="1200"/>
              <a:buFont typeface="Calibri"/>
              <a:buAutoNum type="arabicPeriod"/>
            </a:pPr>
            <a:r>
              <a:rPr b="0" i="0" lang="en-US" sz="1200" u="none">
                <a:solidFill>
                  <a:srgbClr val="000000"/>
                </a:solidFill>
                <a:latin typeface="Arial"/>
                <a:ea typeface="Arial"/>
                <a:cs typeface="Arial"/>
                <a:sym typeface="Arial"/>
              </a:rPr>
              <a:t>Ability to set the zoom level per search result</a:t>
            </a:r>
            <a:endParaRPr/>
          </a:p>
          <a:p>
            <a:pPr indent="-76200" lvl="0" marL="0" marR="0" rtl="0" algn="just">
              <a:lnSpc>
                <a:spcPct val="100000"/>
              </a:lnSpc>
              <a:spcBef>
                <a:spcPts val="0"/>
              </a:spcBef>
              <a:spcAft>
                <a:spcPts val="0"/>
              </a:spcAft>
              <a:buClr>
                <a:srgbClr val="000000"/>
              </a:buClr>
              <a:buSzPts val="1200"/>
              <a:buFont typeface="Calibri"/>
              <a:buAutoNum type="arabicPeriod"/>
            </a:pPr>
            <a:r>
              <a:rPr b="0" i="0" lang="en-US" sz="1200" u="none">
                <a:solidFill>
                  <a:srgbClr val="000000"/>
                </a:solidFill>
                <a:latin typeface="Arial"/>
                <a:ea typeface="Arial"/>
                <a:cs typeface="Arial"/>
                <a:sym typeface="Arial"/>
              </a:rPr>
              <a:t>Icon displaying timing of result especially for large datasets.</a:t>
            </a:r>
            <a:endParaRPr/>
          </a:p>
          <a:p>
            <a:pPr indent="-76200" lvl="0" marL="0" marR="0" rtl="0" algn="just">
              <a:lnSpc>
                <a:spcPct val="100000"/>
              </a:lnSpc>
              <a:spcBef>
                <a:spcPts val="0"/>
              </a:spcBef>
              <a:spcAft>
                <a:spcPts val="0"/>
              </a:spcAft>
              <a:buClr>
                <a:srgbClr val="000000"/>
              </a:buClr>
              <a:buSzPts val="1200"/>
              <a:buFont typeface="Calibri"/>
              <a:buAutoNum type="arabicPeriod"/>
            </a:pPr>
            <a:r>
              <a:rPr b="0" i="0" lang="en-US" sz="1200" u="none">
                <a:solidFill>
                  <a:srgbClr val="000000"/>
                </a:solidFill>
                <a:latin typeface="Arial"/>
                <a:ea typeface="Arial"/>
                <a:cs typeface="Arial"/>
                <a:sym typeface="Arial"/>
              </a:rPr>
              <a:t>Full SQL search with geometry</a:t>
            </a:r>
            <a:endParaRPr/>
          </a:p>
        </p:txBody>
      </p:sp>
      <p:graphicFrame>
        <p:nvGraphicFramePr>
          <p:cNvPr id="228" name="Google Shape;228;p15"/>
          <p:cNvGraphicFramePr/>
          <p:nvPr/>
        </p:nvGraphicFramePr>
        <p:xfrm>
          <a:off x="434975" y="690562"/>
          <a:ext cx="3000000" cy="3000000"/>
        </p:xfrm>
        <a:graphic>
          <a:graphicData uri="http://schemas.openxmlformats.org/drawingml/2006/table">
            <a:tbl>
              <a:tblPr>
                <a:noFill/>
                <a:tableStyleId>{32ED39FC-80F1-4CA4-A6D1-AB31B4BDA9F8}</a:tableStyleId>
              </a:tblPr>
              <a:tblGrid>
                <a:gridCol w="1008050"/>
                <a:gridCol w="6507150"/>
                <a:gridCol w="758825"/>
              </a:tblGrid>
              <a:tr h="395275">
                <a:tc>
                  <a:txBody>
                    <a:bodyPr/>
                    <a:lstStyle/>
                    <a:p>
                      <a:pPr indent="0" lvl="0" marL="0" marR="0" rtl="0" algn="l">
                        <a:lnSpc>
                          <a:spcPct val="100000"/>
                        </a:lnSpc>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Field Name</a:t>
                      </a:r>
                      <a:endParaRPr/>
                    </a:p>
                  </a:txBody>
                  <a:tcPr marT="60650" marB="6065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Description</a:t>
                      </a:r>
                      <a:endParaRPr/>
                    </a:p>
                  </a:txBody>
                  <a:tcPr marT="60650" marB="6065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Mandatory Field</a:t>
                      </a:r>
                      <a:endParaRPr/>
                    </a:p>
                  </a:txBody>
                  <a:tcPr marT="60650" marB="6065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000000"/>
                    </a:solidFill>
                  </a:tcPr>
                </a:tc>
              </a:tr>
              <a:tr h="258750">
                <a:tc>
                  <a:txBody>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Field 1</a:t>
                      </a:r>
                      <a:endParaRPr/>
                    </a:p>
                  </a:txBody>
                  <a:tcPr marT="60650" marB="6065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Name of the predefined search option</a:t>
                      </a:r>
                      <a:endParaRPr/>
                    </a:p>
                  </a:txBody>
                  <a:tcPr marT="60650" marB="6065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YES</a:t>
                      </a:r>
                      <a:endParaRPr/>
                    </a:p>
                  </a:txBody>
                  <a:tcPr marT="60650" marB="6065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8750">
                <a:tc>
                  <a:txBody>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Field 2</a:t>
                      </a:r>
                      <a:endParaRPr/>
                    </a:p>
                  </a:txBody>
                  <a:tcPr marT="60650" marB="6065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Name used for the layer holding the target GIS dataset</a:t>
                      </a:r>
                      <a:endParaRPr/>
                    </a:p>
                  </a:txBody>
                  <a:tcPr marT="60650" marB="6065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YES</a:t>
                      </a:r>
                      <a:endParaRPr/>
                    </a:p>
                  </a:txBody>
                  <a:tcPr marT="60650" marB="6065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8750">
                <a:tc>
                  <a:txBody>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Field 3</a:t>
                      </a:r>
                      <a:endParaRPr/>
                    </a:p>
                  </a:txBody>
                  <a:tcPr marT="60650" marB="6065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The name of the attribute in the target GIS dataset in which the search will be executed</a:t>
                      </a:r>
                      <a:endParaRPr/>
                    </a:p>
                  </a:txBody>
                  <a:tcPr marT="60650" marB="6065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YES</a:t>
                      </a:r>
                      <a:endParaRPr/>
                    </a:p>
                  </a:txBody>
                  <a:tcPr marT="60650" marB="6065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95275">
                <a:tc>
                  <a:txBody>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Field 4</a:t>
                      </a:r>
                      <a:endParaRPr/>
                    </a:p>
                  </a:txBody>
                  <a:tcPr marT="60650" marB="6065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System full path of the file representing the target GIS dataset. This dataset will also be loaded as a QGIS layer. It should reference a vector dataset (ShapeFile, TAB file etc)</a:t>
                      </a:r>
                      <a:endParaRPr/>
                    </a:p>
                  </a:txBody>
                  <a:tcPr marT="60650" marB="6065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YES</a:t>
                      </a:r>
                      <a:endParaRPr/>
                    </a:p>
                  </a:txBody>
                  <a:tcPr marT="60650" marB="6065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95275">
                <a:tc>
                  <a:txBody>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Field 5</a:t>
                      </a:r>
                      <a:endParaRPr/>
                    </a:p>
                  </a:txBody>
                  <a:tcPr marT="60650" marB="6065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Predefined search option description. Ideally, this field should contain a short note highlighting specific usage recommendations for the selected search option </a:t>
                      </a:r>
                      <a:endParaRPr/>
                    </a:p>
                  </a:txBody>
                  <a:tcPr marT="60650" marB="6065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YES</a:t>
                      </a:r>
                      <a:endParaRPr/>
                    </a:p>
                  </a:txBody>
                  <a:tcPr marT="60650" marB="6065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46100">
                <a:tc>
                  <a:txBody>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Field 6</a:t>
                      </a:r>
                      <a:endParaRPr/>
                    </a:p>
                  </a:txBody>
                  <a:tcPr marT="60650" marB="6065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List containing all attribute names from the target GIS dataset that will be displayed in the search results table. When displaying more than one attribute, please use “^^” between the names in the list. When left blank, only the attribute in field 3 will be displayed in the search results table</a:t>
                      </a:r>
                      <a:endParaRPr/>
                    </a:p>
                  </a:txBody>
                  <a:tcPr marT="60650" marB="6065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NO</a:t>
                      </a:r>
                      <a:endParaRPr/>
                    </a:p>
                  </a:txBody>
                  <a:tcPr marT="60650" marB="6065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2575">
                <a:tc>
                  <a:txBody>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Field 7</a:t>
                      </a:r>
                      <a:endParaRPr/>
                    </a:p>
                  </a:txBody>
                  <a:tcPr marT="60650" marB="6065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The default comparison operator used in the search option. Allowed values are “Like”, “Equals” and “Starts With”</a:t>
                      </a:r>
                      <a:endParaRPr/>
                    </a:p>
                  </a:txBody>
                  <a:tcPr marT="60650" marB="6065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YES</a:t>
                      </a:r>
                      <a:endParaRPr/>
                    </a:p>
                  </a:txBody>
                  <a:tcPr marT="60650" marB="6065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229" name="Google Shape;229;p15"/>
          <p:cNvSpPr txBox="1"/>
          <p:nvPr/>
        </p:nvSpPr>
        <p:spPr>
          <a:xfrm>
            <a:off x="1328737" y="1347787"/>
            <a:ext cx="184150" cy="69215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300"/>
              <a:buFont typeface="Arial"/>
              <a:buNone/>
            </a:pPr>
            <a:br>
              <a:rPr b="0" i="0" lang="en-US" sz="1300" u="none">
                <a:solidFill>
                  <a:schemeClr val="dk1"/>
                </a:solidFill>
                <a:latin typeface="Arial"/>
                <a:ea typeface="Arial"/>
                <a:cs typeface="Arial"/>
                <a:sym typeface="Arial"/>
              </a:rPr>
            </a:br>
            <a:endParaRPr/>
          </a:p>
          <a:p>
            <a:pPr indent="0" lvl="0" marL="0" marR="0" rtl="0" algn="l">
              <a:lnSpc>
                <a:spcPct val="100000"/>
              </a:lnSpc>
              <a:spcBef>
                <a:spcPts val="0"/>
              </a:spcBef>
              <a:spcAft>
                <a:spcPts val="0"/>
              </a:spcAft>
              <a:buNone/>
            </a:pPr>
            <a:r>
              <a:t/>
            </a:r>
            <a:endParaRPr b="0" i="0" sz="1300" u="none">
              <a:solidFill>
                <a:schemeClr val="dk1"/>
              </a:solidFill>
              <a:latin typeface="Arial"/>
              <a:ea typeface="Arial"/>
              <a:cs typeface="Arial"/>
              <a:sym typeface="Arial"/>
            </a:endParaRPr>
          </a:p>
        </p:txBody>
      </p:sp>
      <p:sp>
        <p:nvSpPr>
          <p:cNvPr id="230" name="Google Shape;230;p15"/>
          <p:cNvSpPr txBox="1"/>
          <p:nvPr/>
        </p:nvSpPr>
        <p:spPr>
          <a:xfrm>
            <a:off x="2316142" y="49200"/>
            <a:ext cx="3841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Arial"/>
              <a:buNone/>
            </a:pPr>
            <a:r>
              <a:rPr b="0" i="0" lang="en-US" sz="2400" u="none">
                <a:solidFill>
                  <a:schemeClr val="lt1"/>
                </a:solidFill>
                <a:latin typeface="Arial"/>
                <a:ea typeface="Arial"/>
                <a:cs typeface="Arial"/>
                <a:sym typeface="Arial"/>
              </a:rPr>
              <a:t>Custom Search</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id="236" name="Google Shape;236;p1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37" name="Google Shape;237;p16"/>
          <p:cNvSpPr txBox="1"/>
          <p:nvPr/>
        </p:nvSpPr>
        <p:spPr>
          <a:xfrm>
            <a:off x="171450" y="4197350"/>
            <a:ext cx="1130300" cy="46355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300" u="none">
              <a:solidFill>
                <a:schemeClr val="dk1"/>
              </a:solidFill>
              <a:latin typeface="Calibri"/>
              <a:ea typeface="Calibri"/>
              <a:cs typeface="Calibri"/>
              <a:sym typeface="Calibri"/>
            </a:endParaRPr>
          </a:p>
        </p:txBody>
      </p:sp>
      <p:sp>
        <p:nvSpPr>
          <p:cNvPr id="238" name="Google Shape;238;p16"/>
          <p:cNvSpPr txBox="1"/>
          <p:nvPr/>
        </p:nvSpPr>
        <p:spPr>
          <a:xfrm>
            <a:off x="1328737" y="452437"/>
            <a:ext cx="6486525" cy="423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300" u="none">
              <a:solidFill>
                <a:schemeClr val="dk1"/>
              </a:solidFill>
              <a:latin typeface="Calibri"/>
              <a:ea typeface="Calibri"/>
              <a:cs typeface="Calibri"/>
              <a:sym typeface="Calibri"/>
            </a:endParaRPr>
          </a:p>
        </p:txBody>
      </p:sp>
      <p:sp>
        <p:nvSpPr>
          <p:cNvPr id="239" name="Google Shape;239;p16"/>
          <p:cNvSpPr txBox="1"/>
          <p:nvPr>
            <p:ph idx="4294967295" type="title"/>
          </p:nvPr>
        </p:nvSpPr>
        <p:spPr>
          <a:xfrm>
            <a:off x="2341562" y="0"/>
            <a:ext cx="6802437" cy="587375"/>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0" i="0" lang="en-US" sz="2400" u="none" cap="none" strike="noStrike">
                <a:solidFill>
                  <a:schemeClr val="lt1"/>
                </a:solidFill>
                <a:latin typeface="Arial"/>
                <a:ea typeface="Arial"/>
                <a:cs typeface="Arial"/>
                <a:sym typeface="Arial"/>
              </a:rPr>
              <a:t>Permissions and Security</a:t>
            </a:r>
            <a:endParaRPr/>
          </a:p>
        </p:txBody>
      </p:sp>
      <p:pic>
        <p:nvPicPr>
          <p:cNvPr descr="Diagram, text&#10;&#10;Description automatically generated" id="240" name="Google Shape;240;p16"/>
          <p:cNvPicPr preferRelativeResize="0"/>
          <p:nvPr/>
        </p:nvPicPr>
        <p:blipFill rotWithShape="1">
          <a:blip r:embed="rId4">
            <a:alphaModFix/>
          </a:blip>
          <a:srcRect b="0" l="0" r="0" t="0"/>
          <a:stretch/>
        </p:blipFill>
        <p:spPr>
          <a:xfrm>
            <a:off x="2373312" y="784225"/>
            <a:ext cx="3659187" cy="3959225"/>
          </a:xfrm>
          <a:prstGeom prst="rect">
            <a:avLst/>
          </a:prstGeom>
          <a:noFill/>
          <a:ln>
            <a:noFill/>
          </a:ln>
        </p:spPr>
      </p:pic>
      <p:sp>
        <p:nvSpPr>
          <p:cNvPr id="241" name="Google Shape;241;p16"/>
          <p:cNvSpPr txBox="1"/>
          <p:nvPr/>
        </p:nvSpPr>
        <p:spPr>
          <a:xfrm>
            <a:off x="2565400" y="4743450"/>
            <a:ext cx="4013200" cy="2301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900"/>
              <a:buFont typeface="Calibri"/>
              <a:buNone/>
            </a:pPr>
            <a:r>
              <a:rPr b="0" i="0" lang="en-US" sz="900" u="sng">
                <a:solidFill>
                  <a:schemeClr val="dk1"/>
                </a:solidFill>
                <a:latin typeface="Calibri"/>
                <a:ea typeface="Calibri"/>
                <a:cs typeface="Calibri"/>
                <a:sym typeface="Calibri"/>
                <a:hlinkClick r:id="rId5">
                  <a:extLst>
                    <a:ext uri="{A12FA001-AC4F-418D-AE19-62706E023703}">
                      <ahyp:hlinkClr val="tx"/>
                    </a:ext>
                  </a:extLst>
                </a:hlinkClick>
              </a:rPr>
              <a:t>This Photo</a:t>
            </a:r>
            <a:r>
              <a:rPr b="0" i="0" lang="en-US" sz="900" u="none">
                <a:solidFill>
                  <a:schemeClr val="dk1"/>
                </a:solidFill>
                <a:latin typeface="Calibri"/>
                <a:ea typeface="Calibri"/>
                <a:cs typeface="Calibri"/>
                <a:sym typeface="Calibri"/>
              </a:rPr>
              <a:t>This Photo by Unknown Author is licensed under </a:t>
            </a:r>
            <a:r>
              <a:rPr b="0" i="0" lang="en-US" sz="900" u="sng">
                <a:solidFill>
                  <a:schemeClr val="dk1"/>
                </a:solidFill>
                <a:latin typeface="Calibri"/>
                <a:ea typeface="Calibri"/>
                <a:cs typeface="Calibri"/>
                <a:sym typeface="Calibri"/>
                <a:hlinkClick r:id="rId6">
                  <a:extLst>
                    <a:ext uri="{A12FA001-AC4F-418D-AE19-62706E023703}">
                      <ahyp:hlinkClr val="tx"/>
                    </a:ext>
                  </a:extLst>
                </a:hlinkClick>
              </a:rPr>
              <a:t>CC BY-SA</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pic>
        <p:nvPicPr>
          <p:cNvPr id="247" name="Google Shape;247;p17"/>
          <p:cNvPicPr preferRelativeResize="0"/>
          <p:nvPr/>
        </p:nvPicPr>
        <p:blipFill rotWithShape="1">
          <a:blip r:embed="rId3">
            <a:alphaModFix/>
          </a:blip>
          <a:srcRect b="0" l="0" r="0" t="0"/>
          <a:stretch/>
        </p:blipFill>
        <p:spPr>
          <a:xfrm>
            <a:off x="0" y="-901700"/>
            <a:ext cx="9140825" cy="5143500"/>
          </a:xfrm>
          <a:prstGeom prst="rect">
            <a:avLst/>
          </a:prstGeom>
          <a:noFill/>
          <a:ln>
            <a:noFill/>
          </a:ln>
        </p:spPr>
      </p:pic>
      <p:pic>
        <p:nvPicPr>
          <p:cNvPr id="248" name="Google Shape;248;p17"/>
          <p:cNvPicPr preferRelativeResize="0"/>
          <p:nvPr/>
        </p:nvPicPr>
        <p:blipFill rotWithShape="1">
          <a:blip r:embed="rId4">
            <a:alphaModFix/>
          </a:blip>
          <a:srcRect b="0" l="0" r="0" t="0"/>
          <a:stretch/>
        </p:blipFill>
        <p:spPr>
          <a:xfrm>
            <a:off x="122237" y="4652962"/>
            <a:ext cx="1912937" cy="388937"/>
          </a:xfrm>
          <a:prstGeom prst="rect">
            <a:avLst/>
          </a:prstGeom>
          <a:noFill/>
          <a:ln>
            <a:noFill/>
          </a:ln>
        </p:spPr>
      </p:pic>
      <p:pic>
        <p:nvPicPr>
          <p:cNvPr id="249" name="Google Shape;249;p17"/>
          <p:cNvPicPr preferRelativeResize="0"/>
          <p:nvPr/>
        </p:nvPicPr>
        <p:blipFill rotWithShape="1">
          <a:blip r:embed="rId5">
            <a:alphaModFix/>
          </a:blip>
          <a:srcRect b="0" l="0" r="0" t="0"/>
          <a:stretch/>
        </p:blipFill>
        <p:spPr>
          <a:xfrm>
            <a:off x="3175" y="-1862137"/>
            <a:ext cx="9140825" cy="5143500"/>
          </a:xfrm>
          <a:prstGeom prst="rect">
            <a:avLst/>
          </a:prstGeom>
          <a:noFill/>
          <a:ln>
            <a:noFill/>
          </a:ln>
        </p:spPr>
      </p:pic>
      <p:sp>
        <p:nvSpPr>
          <p:cNvPr id="250" name="Google Shape;250;p17"/>
          <p:cNvSpPr txBox="1"/>
          <p:nvPr/>
        </p:nvSpPr>
        <p:spPr>
          <a:xfrm>
            <a:off x="939800" y="2571750"/>
            <a:ext cx="8056562"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How does it work in a mobile environment?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pic>
        <p:nvPicPr>
          <p:cNvPr id="256" name="Google Shape;256;p18"/>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57" name="Google Shape;257;p18"/>
          <p:cNvSpPr txBox="1"/>
          <p:nvPr/>
        </p:nvSpPr>
        <p:spPr>
          <a:xfrm>
            <a:off x="1509712" y="1252537"/>
            <a:ext cx="7634287" cy="69215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300"/>
              <a:buFont typeface="Arial"/>
              <a:buNone/>
            </a:pPr>
            <a:br>
              <a:rPr b="0" i="0" lang="en-US" sz="1300" u="none">
                <a:solidFill>
                  <a:schemeClr val="dk1"/>
                </a:solidFill>
                <a:latin typeface="Arial"/>
                <a:ea typeface="Arial"/>
                <a:cs typeface="Arial"/>
                <a:sym typeface="Arial"/>
              </a:rPr>
            </a:br>
            <a:endParaRPr/>
          </a:p>
          <a:p>
            <a:pPr indent="0" lvl="0" marL="0" marR="0" rtl="0" algn="l">
              <a:lnSpc>
                <a:spcPct val="100000"/>
              </a:lnSpc>
              <a:spcBef>
                <a:spcPts val="0"/>
              </a:spcBef>
              <a:spcAft>
                <a:spcPts val="0"/>
              </a:spcAft>
              <a:buNone/>
            </a:pPr>
            <a:r>
              <a:t/>
            </a:r>
            <a:endParaRPr b="0" i="0" sz="1300" u="none">
              <a:solidFill>
                <a:schemeClr val="dk1"/>
              </a:solidFill>
              <a:latin typeface="Arial"/>
              <a:ea typeface="Arial"/>
              <a:cs typeface="Arial"/>
              <a:sym typeface="Arial"/>
            </a:endParaRPr>
          </a:p>
        </p:txBody>
      </p:sp>
      <p:sp>
        <p:nvSpPr>
          <p:cNvPr id="258" name="Google Shape;258;p18"/>
          <p:cNvSpPr txBox="1"/>
          <p:nvPr/>
        </p:nvSpPr>
        <p:spPr>
          <a:xfrm>
            <a:off x="1328737" y="1347787"/>
            <a:ext cx="184150" cy="69215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300"/>
              <a:buFont typeface="Arial"/>
              <a:buNone/>
            </a:pPr>
            <a:br>
              <a:rPr b="0" i="0" lang="en-US" sz="1300" u="none">
                <a:solidFill>
                  <a:schemeClr val="dk1"/>
                </a:solidFill>
                <a:latin typeface="Arial"/>
                <a:ea typeface="Arial"/>
                <a:cs typeface="Arial"/>
                <a:sym typeface="Arial"/>
              </a:rPr>
            </a:br>
            <a:endParaRPr/>
          </a:p>
          <a:p>
            <a:pPr indent="0" lvl="0" marL="0" marR="0" rtl="0" algn="l">
              <a:lnSpc>
                <a:spcPct val="100000"/>
              </a:lnSpc>
              <a:spcBef>
                <a:spcPts val="0"/>
              </a:spcBef>
              <a:spcAft>
                <a:spcPts val="0"/>
              </a:spcAft>
              <a:buNone/>
            </a:pPr>
            <a:r>
              <a:t/>
            </a:r>
            <a:endParaRPr b="0" i="0" sz="1300" u="none">
              <a:solidFill>
                <a:schemeClr val="dk1"/>
              </a:solidFill>
              <a:latin typeface="Arial"/>
              <a:ea typeface="Arial"/>
              <a:cs typeface="Arial"/>
              <a:sym typeface="Arial"/>
            </a:endParaRPr>
          </a:p>
        </p:txBody>
      </p:sp>
      <p:pic>
        <p:nvPicPr>
          <p:cNvPr id="259" name="Google Shape;259;p18"/>
          <p:cNvPicPr preferRelativeResize="0"/>
          <p:nvPr/>
        </p:nvPicPr>
        <p:blipFill rotWithShape="1">
          <a:blip r:embed="rId4">
            <a:alphaModFix/>
          </a:blip>
          <a:srcRect b="0" l="0" r="0" t="0"/>
          <a:stretch/>
        </p:blipFill>
        <p:spPr>
          <a:xfrm>
            <a:off x="257175" y="506412"/>
            <a:ext cx="4110037" cy="3481387"/>
          </a:xfrm>
          <a:prstGeom prst="rect">
            <a:avLst/>
          </a:prstGeom>
          <a:noFill/>
          <a:ln>
            <a:noFill/>
          </a:ln>
        </p:spPr>
      </p:pic>
      <p:pic>
        <p:nvPicPr>
          <p:cNvPr descr="Map&#10;&#10;Description automatically generated" id="260" name="Google Shape;260;p18"/>
          <p:cNvPicPr preferRelativeResize="0"/>
          <p:nvPr/>
        </p:nvPicPr>
        <p:blipFill rotWithShape="1">
          <a:blip r:embed="rId5">
            <a:alphaModFix/>
          </a:blip>
          <a:srcRect b="0" l="0" r="0" t="0"/>
          <a:stretch/>
        </p:blipFill>
        <p:spPr>
          <a:xfrm>
            <a:off x="4460875" y="233362"/>
            <a:ext cx="2087562" cy="4291012"/>
          </a:xfrm>
          <a:prstGeom prst="rect">
            <a:avLst/>
          </a:prstGeom>
          <a:noFill/>
          <a:ln>
            <a:noFill/>
          </a:ln>
        </p:spPr>
      </p:pic>
      <p:pic>
        <p:nvPicPr>
          <p:cNvPr descr="Graphical user interface&#10;&#10;Description automatically generated" id="261" name="Google Shape;261;p18"/>
          <p:cNvPicPr preferRelativeResize="0"/>
          <p:nvPr/>
        </p:nvPicPr>
        <p:blipFill rotWithShape="1">
          <a:blip r:embed="rId6">
            <a:alphaModFix/>
          </a:blip>
          <a:srcRect b="0" l="0" r="0" t="0"/>
          <a:stretch/>
        </p:blipFill>
        <p:spPr>
          <a:xfrm>
            <a:off x="6640512" y="233362"/>
            <a:ext cx="2087562" cy="429101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id="267" name="Google Shape;267;p19"/>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68" name="Google Shape;268;p19"/>
          <p:cNvSpPr txBox="1"/>
          <p:nvPr>
            <p:ph idx="4294967295" type="title"/>
          </p:nvPr>
        </p:nvSpPr>
        <p:spPr>
          <a:xfrm>
            <a:off x="2422525" y="17462"/>
            <a:ext cx="7886700" cy="587375"/>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Handy Tips</a:t>
            </a:r>
            <a:endParaRPr/>
          </a:p>
        </p:txBody>
      </p:sp>
      <p:pic>
        <p:nvPicPr>
          <p:cNvPr id="269" name="Google Shape;269;p19"/>
          <p:cNvPicPr preferRelativeResize="0"/>
          <p:nvPr/>
        </p:nvPicPr>
        <p:blipFill rotWithShape="1">
          <a:blip r:embed="rId4">
            <a:alphaModFix/>
          </a:blip>
          <a:srcRect b="0" l="0" r="0" t="0"/>
          <a:stretch/>
        </p:blipFill>
        <p:spPr>
          <a:xfrm>
            <a:off x="2630487" y="652462"/>
            <a:ext cx="4037012" cy="44259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pic>
        <p:nvPicPr>
          <p:cNvPr id="275" name="Google Shape;275;p20"/>
          <p:cNvPicPr preferRelativeResize="0"/>
          <p:nvPr/>
        </p:nvPicPr>
        <p:blipFill rotWithShape="1">
          <a:blip r:embed="rId3">
            <a:alphaModFix/>
          </a:blip>
          <a:srcRect b="0" l="0" r="0" t="0"/>
          <a:stretch/>
        </p:blipFill>
        <p:spPr>
          <a:xfrm>
            <a:off x="0" y="0"/>
            <a:ext cx="9140825"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2020-07-31T00:18:16Z</dcterms:created>
  <dc:creator>Microsoft Office User</dc:creator>
</cp:coreProperties>
</file>

<file path=docProps/custom.xml><?xml version="1.0" encoding="utf-8"?>
<Properties xmlns="http://schemas.openxmlformats.org/officeDocument/2006/custom-properties" xmlns:vt="http://schemas.openxmlformats.org/officeDocument/2006/docPropsVTypes"/>
</file>